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Montserrat Bold" charset="1" panose="00000800000000000000"/>
      <p:regular r:id="rId13"/>
    </p:embeddedFont>
    <p:embeddedFont>
      <p:font typeface="Poppins" charset="1" panose="000005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https://public.tableau.com/views/Pokemon_17850407677920/Dashboard1?:language=en-US&amp;:sid=&amp;:redirect=auth&amp;:display_count=n&amp;:origin=viz_share_link"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762772" cy="709824"/>
          </a:xfrm>
          <a:custGeom>
            <a:avLst/>
            <a:gdLst/>
            <a:ahLst/>
            <a:cxnLst/>
            <a:rect r="r" b="b" t="t" l="l"/>
            <a:pathLst>
              <a:path h="709824" w="762772">
                <a:moveTo>
                  <a:pt x="0" y="0"/>
                </a:moveTo>
                <a:lnTo>
                  <a:pt x="762772" y="0"/>
                </a:lnTo>
                <a:lnTo>
                  <a:pt x="762772" y="709824"/>
                </a:lnTo>
                <a:lnTo>
                  <a:pt x="0" y="709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948693" y="1383612"/>
            <a:ext cx="6310607" cy="7200900"/>
          </a:xfrm>
          <a:custGeom>
            <a:avLst/>
            <a:gdLst/>
            <a:ahLst/>
            <a:cxnLst/>
            <a:rect r="r" b="b" t="t" l="l"/>
            <a:pathLst>
              <a:path h="7200900" w="6310607">
                <a:moveTo>
                  <a:pt x="0" y="0"/>
                </a:moveTo>
                <a:lnTo>
                  <a:pt x="6310607" y="0"/>
                </a:lnTo>
                <a:lnTo>
                  <a:pt x="6310607" y="7200900"/>
                </a:lnTo>
                <a:lnTo>
                  <a:pt x="0" y="7200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3137076"/>
            <a:ext cx="9253225" cy="3644296"/>
          </a:xfrm>
          <a:prstGeom prst="rect">
            <a:avLst/>
          </a:prstGeom>
        </p:spPr>
        <p:txBody>
          <a:bodyPr anchor="t" rtlCol="false" tIns="0" lIns="0" bIns="0" rIns="0">
            <a:spAutoFit/>
          </a:bodyPr>
          <a:lstStyle/>
          <a:p>
            <a:pPr algn="l">
              <a:lnSpc>
                <a:spcPts val="8716"/>
              </a:lnSpc>
            </a:pPr>
            <a:r>
              <a:rPr lang="en-US" sz="8301" b="true">
                <a:solidFill>
                  <a:srgbClr val="EFF1E8"/>
                </a:solidFill>
                <a:latin typeface="Montserrat Bold"/>
                <a:ea typeface="Montserrat Bold"/>
                <a:cs typeface="Montserrat Bold"/>
                <a:sym typeface="Montserrat Bold"/>
              </a:rPr>
              <a:t>PORTOFOLIO</a:t>
            </a:r>
          </a:p>
          <a:p>
            <a:pPr algn="l">
              <a:lnSpc>
                <a:spcPts val="6616"/>
              </a:lnSpc>
            </a:pPr>
            <a:r>
              <a:rPr lang="en-US" sz="6301" b="true">
                <a:solidFill>
                  <a:srgbClr val="EFF1E8"/>
                </a:solidFill>
                <a:latin typeface="Montserrat Bold"/>
                <a:ea typeface="Montserrat Bold"/>
                <a:cs typeface="Montserrat Bold"/>
                <a:sym typeface="Montserrat Bold"/>
              </a:rPr>
              <a:t>POKEMON STATS EXPLORER </a:t>
            </a:r>
            <a:r>
              <a:rPr lang="en-US" b="true" sz="6301">
                <a:solidFill>
                  <a:srgbClr val="EFF1E8"/>
                </a:solidFill>
                <a:latin typeface="Montserrat Bold"/>
                <a:ea typeface="Montserrat Bold"/>
                <a:cs typeface="Montserrat Bold"/>
                <a:sym typeface="Montserrat Bold"/>
              </a:rPr>
              <a:t>DASHBOARD</a:t>
            </a:r>
          </a:p>
        </p:txBody>
      </p:sp>
      <p:grpSp>
        <p:nvGrpSpPr>
          <p:cNvPr name="Group 5" id="5"/>
          <p:cNvGrpSpPr/>
          <p:nvPr/>
        </p:nvGrpSpPr>
        <p:grpSpPr>
          <a:xfrm rot="0">
            <a:off x="17519831" y="-691855"/>
            <a:ext cx="1676063" cy="11497700"/>
            <a:chOff x="0" y="0"/>
            <a:chExt cx="441432" cy="3028201"/>
          </a:xfrm>
        </p:grpSpPr>
        <p:sp>
          <p:nvSpPr>
            <p:cNvPr name="Freeform 6" id="6"/>
            <p:cNvSpPr/>
            <p:nvPr/>
          </p:nvSpPr>
          <p:spPr>
            <a:xfrm flipH="false" flipV="false" rot="0">
              <a:off x="0" y="0"/>
              <a:ext cx="441432" cy="3028201"/>
            </a:xfrm>
            <a:custGeom>
              <a:avLst/>
              <a:gdLst/>
              <a:ahLst/>
              <a:cxnLst/>
              <a:rect r="r" b="b" t="t" l="l"/>
              <a:pathLst>
                <a:path h="3028201" w="441432">
                  <a:moveTo>
                    <a:pt x="0" y="0"/>
                  </a:moveTo>
                  <a:lnTo>
                    <a:pt x="441432" y="0"/>
                  </a:lnTo>
                  <a:lnTo>
                    <a:pt x="441432" y="3028201"/>
                  </a:lnTo>
                  <a:lnTo>
                    <a:pt x="0" y="3028201"/>
                  </a:lnTo>
                  <a:close/>
                </a:path>
              </a:pathLst>
            </a:custGeom>
            <a:solidFill>
              <a:srgbClr val="EFF1E8"/>
            </a:solidFill>
          </p:spPr>
        </p:sp>
        <p:sp>
          <p:nvSpPr>
            <p:cNvPr name="TextBox 7" id="7"/>
            <p:cNvSpPr txBox="true"/>
            <p:nvPr/>
          </p:nvSpPr>
          <p:spPr>
            <a:xfrm>
              <a:off x="0" y="-38100"/>
              <a:ext cx="441432" cy="3066301"/>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flipH="true" flipV="true">
            <a:off x="1047750" y="8855456"/>
            <a:ext cx="0" cy="402844"/>
          </a:xfrm>
          <a:prstGeom prst="line">
            <a:avLst/>
          </a:prstGeom>
          <a:ln cap="flat" w="38100">
            <a:solidFill>
              <a:srgbClr val="EFF1E8"/>
            </a:solidFill>
            <a:prstDash val="solid"/>
            <a:headEnd type="none" len="sm" w="sm"/>
            <a:tailEnd type="none" len="sm" w="sm"/>
          </a:ln>
        </p:spPr>
      </p:sp>
      <p:sp>
        <p:nvSpPr>
          <p:cNvPr name="AutoShape 9" id="9"/>
          <p:cNvSpPr/>
          <p:nvPr/>
        </p:nvSpPr>
        <p:spPr>
          <a:xfrm flipH="true" flipV="true">
            <a:off x="1191738" y="8855456"/>
            <a:ext cx="0" cy="402844"/>
          </a:xfrm>
          <a:prstGeom prst="line">
            <a:avLst/>
          </a:prstGeom>
          <a:ln cap="flat" w="38100">
            <a:solidFill>
              <a:srgbClr val="EFF1E8"/>
            </a:solidFill>
            <a:prstDash val="solid"/>
            <a:headEnd type="none" len="sm" w="sm"/>
            <a:tailEnd type="none" len="sm" w="sm"/>
          </a:ln>
        </p:spPr>
      </p:sp>
      <p:sp>
        <p:nvSpPr>
          <p:cNvPr name="AutoShape 10" id="10"/>
          <p:cNvSpPr/>
          <p:nvPr/>
        </p:nvSpPr>
        <p:spPr>
          <a:xfrm flipH="true" flipV="true">
            <a:off x="1335726" y="8855456"/>
            <a:ext cx="0" cy="402844"/>
          </a:xfrm>
          <a:prstGeom prst="line">
            <a:avLst/>
          </a:prstGeom>
          <a:ln cap="flat" w="38100">
            <a:solidFill>
              <a:srgbClr val="EFF1E8"/>
            </a:solidFill>
            <a:prstDash val="solid"/>
            <a:headEnd type="none" len="sm" w="sm"/>
            <a:tailEnd type="none" len="sm" w="sm"/>
          </a:ln>
        </p:spPr>
      </p:sp>
      <p:sp>
        <p:nvSpPr>
          <p:cNvPr name="AutoShape 11" id="11"/>
          <p:cNvSpPr/>
          <p:nvPr/>
        </p:nvSpPr>
        <p:spPr>
          <a:xfrm flipH="true" flipV="true">
            <a:off x="16952274" y="8855456"/>
            <a:ext cx="0" cy="402844"/>
          </a:xfrm>
          <a:prstGeom prst="line">
            <a:avLst/>
          </a:prstGeom>
          <a:ln cap="flat" w="38100">
            <a:solidFill>
              <a:srgbClr val="EFF1E8"/>
            </a:solidFill>
            <a:prstDash val="solid"/>
            <a:headEnd type="none" len="sm" w="sm"/>
            <a:tailEnd type="none" len="sm" w="sm"/>
          </a:ln>
        </p:spPr>
      </p:sp>
      <p:sp>
        <p:nvSpPr>
          <p:cNvPr name="AutoShape 12" id="12"/>
          <p:cNvSpPr/>
          <p:nvPr/>
        </p:nvSpPr>
        <p:spPr>
          <a:xfrm flipV="true">
            <a:off x="17096262" y="8855456"/>
            <a:ext cx="0" cy="402844"/>
          </a:xfrm>
          <a:prstGeom prst="line">
            <a:avLst/>
          </a:prstGeom>
          <a:ln cap="flat" w="38100">
            <a:solidFill>
              <a:srgbClr val="EFF1E8"/>
            </a:solidFill>
            <a:prstDash val="solid"/>
            <a:headEnd type="none" len="sm" w="sm"/>
            <a:tailEnd type="none" len="sm" w="sm"/>
          </a:ln>
        </p:spPr>
      </p:sp>
      <p:sp>
        <p:nvSpPr>
          <p:cNvPr name="AutoShape 13" id="13"/>
          <p:cNvSpPr/>
          <p:nvPr/>
        </p:nvSpPr>
        <p:spPr>
          <a:xfrm flipV="true">
            <a:off x="17240250" y="8855456"/>
            <a:ext cx="0" cy="402844"/>
          </a:xfrm>
          <a:prstGeom prst="line">
            <a:avLst/>
          </a:prstGeom>
          <a:ln cap="flat" w="38100">
            <a:solidFill>
              <a:srgbClr val="EFF1E8"/>
            </a:solidFill>
            <a:prstDash val="solid"/>
            <a:headEnd type="none" len="sm" w="sm"/>
            <a:tailEnd type="none" len="sm" w="sm"/>
          </a:ln>
        </p:spPr>
      </p:sp>
      <p:grpSp>
        <p:nvGrpSpPr>
          <p:cNvPr name="Group 14" id="14"/>
          <p:cNvGrpSpPr/>
          <p:nvPr/>
        </p:nvGrpSpPr>
        <p:grpSpPr>
          <a:xfrm rot="0">
            <a:off x="1047750" y="7227423"/>
            <a:ext cx="3003266" cy="760738"/>
            <a:chOff x="0" y="0"/>
            <a:chExt cx="790984" cy="200359"/>
          </a:xfrm>
        </p:grpSpPr>
        <p:sp>
          <p:nvSpPr>
            <p:cNvPr name="Freeform 15" id="15"/>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16" id="16"/>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113746" y="7281732"/>
            <a:ext cx="2871274" cy="566420"/>
          </a:xfrm>
          <a:prstGeom prst="rect">
            <a:avLst/>
          </a:prstGeom>
        </p:spPr>
        <p:txBody>
          <a:bodyPr anchor="t" rtlCol="false" tIns="0" lIns="0" bIns="0" rIns="0">
            <a:spAutoFit/>
          </a:bodyPr>
          <a:lstStyle/>
          <a:p>
            <a:pPr algn="ctr">
              <a:lnSpc>
                <a:spcPts val="4479"/>
              </a:lnSpc>
              <a:spcBef>
                <a:spcPct val="0"/>
              </a:spcBef>
            </a:pPr>
            <a:r>
              <a:rPr lang="en-US" sz="3199">
                <a:solidFill>
                  <a:srgbClr val="FFDE59"/>
                </a:solidFill>
                <a:latin typeface="Poppins"/>
                <a:ea typeface="Poppins"/>
                <a:cs typeface="Poppins"/>
                <a:sym typeface="Poppins"/>
              </a:rPr>
              <a:t>BigQuery</a:t>
            </a:r>
          </a:p>
        </p:txBody>
      </p:sp>
      <p:grpSp>
        <p:nvGrpSpPr>
          <p:cNvPr name="Group 18" id="18"/>
          <p:cNvGrpSpPr/>
          <p:nvPr/>
        </p:nvGrpSpPr>
        <p:grpSpPr>
          <a:xfrm rot="0">
            <a:off x="4607868" y="7227435"/>
            <a:ext cx="3003266" cy="760738"/>
            <a:chOff x="0" y="0"/>
            <a:chExt cx="790984" cy="200359"/>
          </a:xfrm>
        </p:grpSpPr>
        <p:sp>
          <p:nvSpPr>
            <p:cNvPr name="Freeform 19" id="19"/>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20" id="20"/>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4673864" y="7281744"/>
            <a:ext cx="2871274" cy="566420"/>
          </a:xfrm>
          <a:prstGeom prst="rect">
            <a:avLst/>
          </a:prstGeom>
        </p:spPr>
        <p:txBody>
          <a:bodyPr anchor="t" rtlCol="false" tIns="0" lIns="0" bIns="0" rIns="0">
            <a:spAutoFit/>
          </a:bodyPr>
          <a:lstStyle/>
          <a:p>
            <a:pPr algn="ctr">
              <a:lnSpc>
                <a:spcPts val="4479"/>
              </a:lnSpc>
              <a:spcBef>
                <a:spcPct val="0"/>
              </a:spcBef>
            </a:pPr>
            <a:r>
              <a:rPr lang="en-US" sz="3199">
                <a:solidFill>
                  <a:srgbClr val="FFDE59"/>
                </a:solidFill>
                <a:latin typeface="Poppins"/>
                <a:ea typeface="Poppins"/>
                <a:cs typeface="Poppins"/>
                <a:sym typeface="Poppins"/>
              </a:rPr>
              <a:t>Tableau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sp>
        <p:nvSpPr>
          <p:cNvPr name="Freeform 2" id="2"/>
          <p:cNvSpPr/>
          <p:nvPr/>
        </p:nvSpPr>
        <p:spPr>
          <a:xfrm flipH="false" flipV="false" rot="0">
            <a:off x="9945029" y="1194596"/>
            <a:ext cx="7314271" cy="6182391"/>
          </a:xfrm>
          <a:custGeom>
            <a:avLst/>
            <a:gdLst/>
            <a:ahLst/>
            <a:cxnLst/>
            <a:rect r="r" b="b" t="t" l="l"/>
            <a:pathLst>
              <a:path h="6182391" w="7314271">
                <a:moveTo>
                  <a:pt x="0" y="0"/>
                </a:moveTo>
                <a:lnTo>
                  <a:pt x="7314271" y="0"/>
                </a:lnTo>
                <a:lnTo>
                  <a:pt x="7314271" y="6182391"/>
                </a:lnTo>
                <a:lnTo>
                  <a:pt x="0" y="6182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8211764"/>
            <a:ext cx="10352286" cy="1046536"/>
            <a:chOff x="0" y="0"/>
            <a:chExt cx="2726528" cy="275631"/>
          </a:xfrm>
        </p:grpSpPr>
        <p:sp>
          <p:nvSpPr>
            <p:cNvPr name="Freeform 4" id="4"/>
            <p:cNvSpPr/>
            <p:nvPr/>
          </p:nvSpPr>
          <p:spPr>
            <a:xfrm flipH="false" flipV="false" rot="0">
              <a:off x="0" y="0"/>
              <a:ext cx="2726528" cy="275631"/>
            </a:xfrm>
            <a:custGeom>
              <a:avLst/>
              <a:gdLst/>
              <a:ahLst/>
              <a:cxnLst/>
              <a:rect r="r" b="b" t="t" l="l"/>
              <a:pathLst>
                <a:path h="275631" w="2726528">
                  <a:moveTo>
                    <a:pt x="74785" y="0"/>
                  </a:moveTo>
                  <a:lnTo>
                    <a:pt x="2651743" y="0"/>
                  </a:lnTo>
                  <a:cubicBezTo>
                    <a:pt x="2671577" y="0"/>
                    <a:pt x="2690599" y="7879"/>
                    <a:pt x="2704624" y="21904"/>
                  </a:cubicBezTo>
                  <a:cubicBezTo>
                    <a:pt x="2718649" y="35929"/>
                    <a:pt x="2726528" y="54951"/>
                    <a:pt x="2726528" y="74785"/>
                  </a:cubicBezTo>
                  <a:lnTo>
                    <a:pt x="2726528" y="200846"/>
                  </a:lnTo>
                  <a:cubicBezTo>
                    <a:pt x="2726528" y="220680"/>
                    <a:pt x="2718649" y="239702"/>
                    <a:pt x="2704624" y="253727"/>
                  </a:cubicBezTo>
                  <a:cubicBezTo>
                    <a:pt x="2690599" y="267752"/>
                    <a:pt x="2671577" y="275631"/>
                    <a:pt x="2651743" y="275631"/>
                  </a:cubicBezTo>
                  <a:lnTo>
                    <a:pt x="74785" y="275631"/>
                  </a:lnTo>
                  <a:cubicBezTo>
                    <a:pt x="54951" y="275631"/>
                    <a:pt x="35929" y="267752"/>
                    <a:pt x="21904" y="253727"/>
                  </a:cubicBezTo>
                  <a:cubicBezTo>
                    <a:pt x="7879" y="239702"/>
                    <a:pt x="0" y="220680"/>
                    <a:pt x="0" y="200846"/>
                  </a:cubicBezTo>
                  <a:lnTo>
                    <a:pt x="0" y="74785"/>
                  </a:lnTo>
                  <a:cubicBezTo>
                    <a:pt x="0" y="54951"/>
                    <a:pt x="7879" y="35929"/>
                    <a:pt x="21904" y="21904"/>
                  </a:cubicBezTo>
                  <a:cubicBezTo>
                    <a:pt x="35929" y="7879"/>
                    <a:pt x="54951" y="0"/>
                    <a:pt x="74785" y="0"/>
                  </a:cubicBezTo>
                  <a:close/>
                </a:path>
              </a:pathLst>
            </a:custGeom>
            <a:solidFill>
              <a:srgbClr val="343734"/>
            </a:solidFill>
          </p:spPr>
        </p:sp>
        <p:sp>
          <p:nvSpPr>
            <p:cNvPr name="TextBox 5" id="5"/>
            <p:cNvSpPr txBox="true"/>
            <p:nvPr/>
          </p:nvSpPr>
          <p:spPr>
            <a:xfrm>
              <a:off x="0" y="-38100"/>
              <a:ext cx="2726528" cy="313731"/>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819606"/>
            <a:ext cx="7736587" cy="1245235"/>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SUMMARY</a:t>
            </a:r>
          </a:p>
        </p:txBody>
      </p:sp>
      <p:sp>
        <p:nvSpPr>
          <p:cNvPr name="TextBox 7" id="7"/>
          <p:cNvSpPr txBox="true"/>
          <p:nvPr/>
        </p:nvSpPr>
        <p:spPr>
          <a:xfrm rot="0">
            <a:off x="1028700" y="3365500"/>
            <a:ext cx="7140660" cy="2482850"/>
          </a:xfrm>
          <a:prstGeom prst="rect">
            <a:avLst/>
          </a:prstGeom>
        </p:spPr>
        <p:txBody>
          <a:bodyPr anchor="t" rtlCol="false" tIns="0" lIns="0" bIns="0" rIns="0">
            <a:spAutoFit/>
          </a:bodyPr>
          <a:lstStyle/>
          <a:p>
            <a:pPr algn="just">
              <a:lnSpc>
                <a:spcPts val="2800"/>
              </a:lnSpc>
              <a:spcBef>
                <a:spcPct val="0"/>
              </a:spcBef>
            </a:pPr>
            <a:r>
              <a:rPr lang="en-US" sz="2000">
                <a:solidFill>
                  <a:srgbClr val="343734"/>
                </a:solidFill>
                <a:latin typeface="Poppins"/>
                <a:ea typeface="Poppins"/>
                <a:cs typeface="Poppins"/>
                <a:sym typeface="Poppins"/>
              </a:rPr>
              <a:t>M</a:t>
            </a:r>
            <a:r>
              <a:rPr lang="en-US" sz="2000">
                <a:solidFill>
                  <a:srgbClr val="343734"/>
                </a:solidFill>
                <a:latin typeface="Poppins"/>
                <a:ea typeface="Poppins"/>
                <a:cs typeface="Poppins"/>
                <a:sym typeface="Poppins"/>
              </a:rPr>
              <a:t>erancang dashboard eksplorasi data interaktif berbasis parameter yang memungkinkan pengguna menelusuri profil statistik dan atribut lebih dari 800+ karakter Pokémon secara instan - menunjukkan kemampuan merancang UX data yang intuitif untuk kebutuhan eksplorasi dataset besar dengan banyak entitas.</a:t>
            </a:r>
          </a:p>
        </p:txBody>
      </p:sp>
      <p:sp>
        <p:nvSpPr>
          <p:cNvPr name="TextBox 8" id="8"/>
          <p:cNvSpPr txBox="true"/>
          <p:nvPr/>
        </p:nvSpPr>
        <p:spPr>
          <a:xfrm rot="0">
            <a:off x="1028700" y="5919109"/>
            <a:ext cx="7140660" cy="2130425"/>
          </a:xfrm>
          <a:prstGeom prst="rect">
            <a:avLst/>
          </a:prstGeom>
        </p:spPr>
        <p:txBody>
          <a:bodyPr anchor="t" rtlCol="false" tIns="0" lIns="0" bIns="0" rIns="0">
            <a:spAutoFit/>
          </a:bodyPr>
          <a:lstStyle/>
          <a:p>
            <a:pPr algn="just" marL="431801" indent="-215900" lvl="1">
              <a:lnSpc>
                <a:spcPts val="2800"/>
              </a:lnSpc>
              <a:spcBef>
                <a:spcPct val="0"/>
              </a:spcBef>
              <a:buFont typeface="Arial"/>
              <a:buChar char="•"/>
            </a:pPr>
            <a:r>
              <a:rPr lang="en-US" sz="2000">
                <a:solidFill>
                  <a:srgbClr val="343734"/>
                </a:solidFill>
                <a:latin typeface="Poppins"/>
                <a:ea typeface="Poppins"/>
                <a:cs typeface="Poppins"/>
                <a:sym typeface="Poppins"/>
              </a:rPr>
              <a:t>Fitur U</a:t>
            </a:r>
            <a:r>
              <a:rPr lang="en-US" sz="2000">
                <a:solidFill>
                  <a:srgbClr val="343734"/>
                </a:solidFill>
                <a:latin typeface="Poppins"/>
                <a:ea typeface="Poppins"/>
                <a:cs typeface="Poppins"/>
                <a:sym typeface="Poppins"/>
              </a:rPr>
              <a:t>tama: Dynamic Search &amp; Filter</a:t>
            </a:r>
          </a:p>
          <a:p>
            <a:pPr algn="just" marL="431801" indent="-215900" lvl="1">
              <a:lnSpc>
                <a:spcPts val="2800"/>
              </a:lnSpc>
              <a:spcBef>
                <a:spcPct val="0"/>
              </a:spcBef>
              <a:buFont typeface="Arial"/>
              <a:buChar char="•"/>
            </a:pPr>
            <a:r>
              <a:rPr lang="en-US" sz="2000">
                <a:solidFill>
                  <a:srgbClr val="343734"/>
                </a:solidFill>
                <a:latin typeface="Poppins"/>
                <a:ea typeface="Poppins"/>
                <a:cs typeface="Poppins"/>
                <a:sym typeface="Poppins"/>
              </a:rPr>
              <a:t>Visualis</a:t>
            </a:r>
            <a:r>
              <a:rPr lang="en-US" sz="2000">
                <a:solidFill>
                  <a:srgbClr val="343734"/>
                </a:solidFill>
                <a:latin typeface="Poppins"/>
                <a:ea typeface="Poppins"/>
                <a:cs typeface="Poppins"/>
                <a:sym typeface="Poppins"/>
              </a:rPr>
              <a:t>asi Multi-Dimensi: Radar Chart untuk status</a:t>
            </a:r>
          </a:p>
          <a:p>
            <a:pPr algn="just" marL="431801" indent="-215900" lvl="1">
              <a:lnSpc>
                <a:spcPts val="2800"/>
              </a:lnSpc>
              <a:spcBef>
                <a:spcPct val="0"/>
              </a:spcBef>
              <a:buFont typeface="Arial"/>
              <a:buChar char="•"/>
            </a:pPr>
            <a:r>
              <a:rPr lang="en-US" sz="2000">
                <a:solidFill>
                  <a:srgbClr val="343734"/>
                </a:solidFill>
                <a:latin typeface="Poppins"/>
                <a:ea typeface="Poppins"/>
                <a:cs typeface="Poppins"/>
                <a:sym typeface="Poppins"/>
              </a:rPr>
              <a:t>Atribu</a:t>
            </a:r>
            <a:r>
              <a:rPr lang="en-US" sz="2000">
                <a:solidFill>
                  <a:srgbClr val="343734"/>
                </a:solidFill>
                <a:latin typeface="Poppins"/>
                <a:ea typeface="Poppins"/>
                <a:cs typeface="Poppins"/>
                <a:sym typeface="Poppins"/>
              </a:rPr>
              <a:t>t yang Dianalisis: Type, Generation, Legendary Status, 6 Battle Stats</a:t>
            </a:r>
          </a:p>
          <a:p>
            <a:pPr algn="just" marL="431801" indent="-215900" lvl="1">
              <a:lnSpc>
                <a:spcPts val="2800"/>
              </a:lnSpc>
              <a:spcBef>
                <a:spcPct val="0"/>
              </a:spcBef>
              <a:buFont typeface="Arial"/>
              <a:buChar char="•"/>
            </a:pPr>
            <a:r>
              <a:rPr lang="en-US" sz="2000">
                <a:solidFill>
                  <a:srgbClr val="343734"/>
                </a:solidFill>
                <a:latin typeface="Poppins"/>
                <a:ea typeface="Poppins"/>
                <a:cs typeface="Poppins"/>
                <a:sym typeface="Poppins"/>
              </a:rPr>
              <a:t>Con</a:t>
            </a:r>
            <a:r>
              <a:rPr lang="en-US" sz="2000">
                <a:solidFill>
                  <a:srgbClr val="343734"/>
                </a:solidFill>
                <a:latin typeface="Poppins"/>
                <a:ea typeface="Poppins"/>
                <a:cs typeface="Poppins"/>
                <a:sym typeface="Poppins"/>
              </a:rPr>
              <a:t>toh Use Case: Profil "Pikachu"</a:t>
            </a:r>
          </a:p>
          <a:p>
            <a:pPr algn="just">
              <a:lnSpc>
                <a:spcPts val="2800"/>
              </a:lnSpc>
              <a:spcBef>
                <a:spcPct val="0"/>
              </a:spcBef>
            </a:pPr>
          </a:p>
        </p:txBody>
      </p:sp>
      <p:grpSp>
        <p:nvGrpSpPr>
          <p:cNvPr name="Group 9" id="9"/>
          <p:cNvGrpSpPr/>
          <p:nvPr/>
        </p:nvGrpSpPr>
        <p:grpSpPr>
          <a:xfrm rot="0">
            <a:off x="8206473" y="8414835"/>
            <a:ext cx="2528429" cy="640461"/>
            <a:chOff x="0" y="0"/>
            <a:chExt cx="790984" cy="200359"/>
          </a:xfrm>
        </p:grpSpPr>
        <p:sp>
          <p:nvSpPr>
            <p:cNvPr name="Freeform 10" id="10"/>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11" id="11"/>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8262034" y="8456529"/>
            <a:ext cx="2417307" cy="480894"/>
          </a:xfrm>
          <a:prstGeom prst="rect">
            <a:avLst/>
          </a:prstGeom>
        </p:spPr>
        <p:txBody>
          <a:bodyPr anchor="t" rtlCol="false" tIns="0" lIns="0" bIns="0" rIns="0">
            <a:spAutoFit/>
          </a:bodyPr>
          <a:lstStyle/>
          <a:p>
            <a:pPr algn="ctr">
              <a:lnSpc>
                <a:spcPts val="3771"/>
              </a:lnSpc>
              <a:spcBef>
                <a:spcPct val="0"/>
              </a:spcBef>
            </a:pPr>
            <a:r>
              <a:rPr lang="en-US" sz="2694">
                <a:solidFill>
                  <a:srgbClr val="343734"/>
                </a:solidFill>
                <a:latin typeface="Poppins"/>
                <a:ea typeface="Poppins"/>
                <a:cs typeface="Poppins"/>
                <a:sym typeface="Poppins"/>
              </a:rPr>
              <a:t>Tableau</a:t>
            </a:r>
          </a:p>
        </p:txBody>
      </p:sp>
      <p:grpSp>
        <p:nvGrpSpPr>
          <p:cNvPr name="Group 13" id="13"/>
          <p:cNvGrpSpPr/>
          <p:nvPr/>
        </p:nvGrpSpPr>
        <p:grpSpPr>
          <a:xfrm rot="0">
            <a:off x="1702821" y="8414825"/>
            <a:ext cx="2528429" cy="640461"/>
            <a:chOff x="0" y="0"/>
            <a:chExt cx="790984" cy="200359"/>
          </a:xfrm>
        </p:grpSpPr>
        <p:sp>
          <p:nvSpPr>
            <p:cNvPr name="Freeform 14" id="14"/>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15" id="15"/>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758382" y="8456518"/>
            <a:ext cx="2417307" cy="480894"/>
          </a:xfrm>
          <a:prstGeom prst="rect">
            <a:avLst/>
          </a:prstGeom>
        </p:spPr>
        <p:txBody>
          <a:bodyPr anchor="t" rtlCol="false" tIns="0" lIns="0" bIns="0" rIns="0">
            <a:spAutoFit/>
          </a:bodyPr>
          <a:lstStyle/>
          <a:p>
            <a:pPr algn="ctr">
              <a:lnSpc>
                <a:spcPts val="3771"/>
              </a:lnSpc>
              <a:spcBef>
                <a:spcPct val="0"/>
              </a:spcBef>
            </a:pPr>
            <a:r>
              <a:rPr lang="en-US" sz="2694">
                <a:solidFill>
                  <a:srgbClr val="343734"/>
                </a:solidFill>
                <a:latin typeface="Poppins"/>
                <a:ea typeface="Poppins"/>
                <a:cs typeface="Poppins"/>
                <a:sym typeface="Poppins"/>
              </a:rPr>
              <a:t>BigQuery</a:t>
            </a:r>
          </a:p>
        </p:txBody>
      </p:sp>
      <p:grpSp>
        <p:nvGrpSpPr>
          <p:cNvPr name="Group 17" id="17"/>
          <p:cNvGrpSpPr/>
          <p:nvPr/>
        </p:nvGrpSpPr>
        <p:grpSpPr>
          <a:xfrm rot="0">
            <a:off x="4896993" y="8414802"/>
            <a:ext cx="2528429" cy="640461"/>
            <a:chOff x="0" y="0"/>
            <a:chExt cx="790984" cy="200359"/>
          </a:xfrm>
        </p:grpSpPr>
        <p:sp>
          <p:nvSpPr>
            <p:cNvPr name="Freeform 18" id="18"/>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19" id="19"/>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4952555" y="8456495"/>
            <a:ext cx="2417307" cy="480894"/>
          </a:xfrm>
          <a:prstGeom prst="rect">
            <a:avLst/>
          </a:prstGeom>
        </p:spPr>
        <p:txBody>
          <a:bodyPr anchor="t" rtlCol="false" tIns="0" lIns="0" bIns="0" rIns="0">
            <a:spAutoFit/>
          </a:bodyPr>
          <a:lstStyle/>
          <a:p>
            <a:pPr algn="ctr">
              <a:lnSpc>
                <a:spcPts val="3771"/>
              </a:lnSpc>
              <a:spcBef>
                <a:spcPct val="0"/>
              </a:spcBef>
            </a:pPr>
            <a:r>
              <a:rPr lang="en-US" sz="2694">
                <a:solidFill>
                  <a:srgbClr val="343734"/>
                </a:solidFill>
                <a:latin typeface="Poppins"/>
                <a:ea typeface="Poppins"/>
                <a:cs typeface="Poppins"/>
                <a:sym typeface="Poppins"/>
              </a:rPr>
              <a:t>Excel</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990528" y="5787838"/>
            <a:ext cx="10123034" cy="886547"/>
            <a:chOff x="0" y="0"/>
            <a:chExt cx="3188162" cy="279210"/>
          </a:xfrm>
        </p:grpSpPr>
        <p:sp>
          <p:nvSpPr>
            <p:cNvPr name="Freeform 3" id="3"/>
            <p:cNvSpPr/>
            <p:nvPr/>
          </p:nvSpPr>
          <p:spPr>
            <a:xfrm flipH="false" flipV="false" rot="0">
              <a:off x="0" y="0"/>
              <a:ext cx="3188162" cy="279210"/>
            </a:xfrm>
            <a:custGeom>
              <a:avLst/>
              <a:gdLst/>
              <a:ahLst/>
              <a:cxnLst/>
              <a:rect r="r" b="b" t="t" l="l"/>
              <a:pathLst>
                <a:path h="279210" w="3188162">
                  <a:moveTo>
                    <a:pt x="39004" y="0"/>
                  </a:moveTo>
                  <a:lnTo>
                    <a:pt x="3149158" y="0"/>
                  </a:lnTo>
                  <a:cubicBezTo>
                    <a:pt x="3170699" y="0"/>
                    <a:pt x="3188162" y="17463"/>
                    <a:pt x="3188162" y="39004"/>
                  </a:cubicBezTo>
                  <a:lnTo>
                    <a:pt x="3188162" y="240206"/>
                  </a:lnTo>
                  <a:cubicBezTo>
                    <a:pt x="3188162" y="261748"/>
                    <a:pt x="3170699" y="279210"/>
                    <a:pt x="3149158" y="279210"/>
                  </a:cubicBezTo>
                  <a:lnTo>
                    <a:pt x="39004" y="279210"/>
                  </a:lnTo>
                  <a:cubicBezTo>
                    <a:pt x="17463" y="279210"/>
                    <a:pt x="0" y="261748"/>
                    <a:pt x="0" y="240206"/>
                  </a:cubicBezTo>
                  <a:lnTo>
                    <a:pt x="0" y="39004"/>
                  </a:lnTo>
                  <a:cubicBezTo>
                    <a:pt x="0" y="17463"/>
                    <a:pt x="17463" y="0"/>
                    <a:pt x="39004" y="0"/>
                  </a:cubicBezTo>
                  <a:close/>
                </a:path>
              </a:pathLst>
            </a:custGeom>
            <a:solidFill>
              <a:srgbClr val="343734"/>
            </a:solidFill>
          </p:spPr>
        </p:sp>
        <p:sp>
          <p:nvSpPr>
            <p:cNvPr name="TextBox 4" id="4"/>
            <p:cNvSpPr txBox="true"/>
            <p:nvPr/>
          </p:nvSpPr>
          <p:spPr>
            <a:xfrm>
              <a:off x="0" y="-38100"/>
              <a:ext cx="3188162" cy="31731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90528" y="6897417"/>
            <a:ext cx="10123034" cy="758758"/>
            <a:chOff x="0" y="0"/>
            <a:chExt cx="3188162" cy="238964"/>
          </a:xfrm>
        </p:grpSpPr>
        <p:sp>
          <p:nvSpPr>
            <p:cNvPr name="Freeform 6" id="6"/>
            <p:cNvSpPr/>
            <p:nvPr/>
          </p:nvSpPr>
          <p:spPr>
            <a:xfrm flipH="false" flipV="false" rot="0">
              <a:off x="0" y="0"/>
              <a:ext cx="3188162" cy="238964"/>
            </a:xfrm>
            <a:custGeom>
              <a:avLst/>
              <a:gdLst/>
              <a:ahLst/>
              <a:cxnLst/>
              <a:rect r="r" b="b" t="t" l="l"/>
              <a:pathLst>
                <a:path h="238964" w="3188162">
                  <a:moveTo>
                    <a:pt x="39004" y="0"/>
                  </a:moveTo>
                  <a:lnTo>
                    <a:pt x="3149158" y="0"/>
                  </a:lnTo>
                  <a:cubicBezTo>
                    <a:pt x="3170699" y="0"/>
                    <a:pt x="3188162" y="17463"/>
                    <a:pt x="3188162" y="39004"/>
                  </a:cubicBezTo>
                  <a:lnTo>
                    <a:pt x="3188162" y="199960"/>
                  </a:lnTo>
                  <a:cubicBezTo>
                    <a:pt x="3188162" y="221501"/>
                    <a:pt x="3170699" y="238964"/>
                    <a:pt x="3149158" y="238964"/>
                  </a:cubicBezTo>
                  <a:lnTo>
                    <a:pt x="39004" y="238964"/>
                  </a:lnTo>
                  <a:cubicBezTo>
                    <a:pt x="17463" y="238964"/>
                    <a:pt x="0" y="221501"/>
                    <a:pt x="0" y="199960"/>
                  </a:cubicBezTo>
                  <a:lnTo>
                    <a:pt x="0" y="39004"/>
                  </a:lnTo>
                  <a:cubicBezTo>
                    <a:pt x="0" y="17463"/>
                    <a:pt x="17463" y="0"/>
                    <a:pt x="39004" y="0"/>
                  </a:cubicBezTo>
                  <a:close/>
                </a:path>
              </a:pathLst>
            </a:custGeom>
            <a:solidFill>
              <a:srgbClr val="343734"/>
            </a:solidFill>
          </p:spPr>
        </p:sp>
        <p:sp>
          <p:nvSpPr>
            <p:cNvPr name="TextBox 7" id="7"/>
            <p:cNvSpPr txBox="true"/>
            <p:nvPr/>
          </p:nvSpPr>
          <p:spPr>
            <a:xfrm>
              <a:off x="0" y="-38100"/>
              <a:ext cx="3188162" cy="2770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90528" y="7887172"/>
            <a:ext cx="10123034" cy="758758"/>
            <a:chOff x="0" y="0"/>
            <a:chExt cx="3188162" cy="238964"/>
          </a:xfrm>
        </p:grpSpPr>
        <p:sp>
          <p:nvSpPr>
            <p:cNvPr name="Freeform 9" id="9"/>
            <p:cNvSpPr/>
            <p:nvPr/>
          </p:nvSpPr>
          <p:spPr>
            <a:xfrm flipH="false" flipV="false" rot="0">
              <a:off x="0" y="0"/>
              <a:ext cx="3188162" cy="238964"/>
            </a:xfrm>
            <a:custGeom>
              <a:avLst/>
              <a:gdLst/>
              <a:ahLst/>
              <a:cxnLst/>
              <a:rect r="r" b="b" t="t" l="l"/>
              <a:pathLst>
                <a:path h="238964" w="3188162">
                  <a:moveTo>
                    <a:pt x="39004" y="0"/>
                  </a:moveTo>
                  <a:lnTo>
                    <a:pt x="3149158" y="0"/>
                  </a:lnTo>
                  <a:cubicBezTo>
                    <a:pt x="3170699" y="0"/>
                    <a:pt x="3188162" y="17463"/>
                    <a:pt x="3188162" y="39004"/>
                  </a:cubicBezTo>
                  <a:lnTo>
                    <a:pt x="3188162" y="199960"/>
                  </a:lnTo>
                  <a:cubicBezTo>
                    <a:pt x="3188162" y="221501"/>
                    <a:pt x="3170699" y="238964"/>
                    <a:pt x="3149158" y="238964"/>
                  </a:cubicBezTo>
                  <a:lnTo>
                    <a:pt x="39004" y="238964"/>
                  </a:lnTo>
                  <a:cubicBezTo>
                    <a:pt x="17463" y="238964"/>
                    <a:pt x="0" y="221501"/>
                    <a:pt x="0" y="199960"/>
                  </a:cubicBezTo>
                  <a:lnTo>
                    <a:pt x="0" y="39004"/>
                  </a:lnTo>
                  <a:cubicBezTo>
                    <a:pt x="0" y="17463"/>
                    <a:pt x="17463" y="0"/>
                    <a:pt x="39004" y="0"/>
                  </a:cubicBezTo>
                  <a:close/>
                </a:path>
              </a:pathLst>
            </a:custGeom>
            <a:solidFill>
              <a:srgbClr val="343734"/>
            </a:solidFill>
          </p:spPr>
        </p:sp>
        <p:sp>
          <p:nvSpPr>
            <p:cNvPr name="TextBox 10" id="10"/>
            <p:cNvSpPr txBox="true"/>
            <p:nvPr/>
          </p:nvSpPr>
          <p:spPr>
            <a:xfrm>
              <a:off x="0" y="-38100"/>
              <a:ext cx="3188162" cy="277064"/>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036845" y="-197439"/>
            <a:ext cx="3765505" cy="11168682"/>
            <a:chOff x="0" y="0"/>
            <a:chExt cx="991738" cy="2941546"/>
          </a:xfrm>
        </p:grpSpPr>
        <p:sp>
          <p:nvSpPr>
            <p:cNvPr name="Freeform 12" id="12"/>
            <p:cNvSpPr/>
            <p:nvPr/>
          </p:nvSpPr>
          <p:spPr>
            <a:xfrm flipH="false" flipV="false" rot="0">
              <a:off x="0" y="0"/>
              <a:ext cx="991738" cy="2941546"/>
            </a:xfrm>
            <a:custGeom>
              <a:avLst/>
              <a:gdLst/>
              <a:ahLst/>
              <a:cxnLst/>
              <a:rect r="r" b="b" t="t" l="l"/>
              <a:pathLst>
                <a:path h="2941546" w="991738">
                  <a:moveTo>
                    <a:pt x="0" y="0"/>
                  </a:moveTo>
                  <a:lnTo>
                    <a:pt x="991738" y="0"/>
                  </a:lnTo>
                  <a:lnTo>
                    <a:pt x="991738" y="2941546"/>
                  </a:lnTo>
                  <a:lnTo>
                    <a:pt x="0" y="2941546"/>
                  </a:lnTo>
                  <a:close/>
                </a:path>
              </a:pathLst>
            </a:custGeom>
            <a:solidFill>
              <a:srgbClr val="343734"/>
            </a:solidFill>
          </p:spPr>
        </p:sp>
        <p:sp>
          <p:nvSpPr>
            <p:cNvPr name="TextBox 13" id="13"/>
            <p:cNvSpPr txBox="true"/>
            <p:nvPr/>
          </p:nvSpPr>
          <p:spPr>
            <a:xfrm>
              <a:off x="0" y="-38100"/>
              <a:ext cx="991738" cy="2979646"/>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701994" y="579070"/>
            <a:ext cx="13854017" cy="2473960"/>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BACKGROUN</a:t>
            </a:r>
            <a:r>
              <a:rPr lang="en-US" b="true" sz="8799">
                <a:solidFill>
                  <a:srgbClr val="343734"/>
                </a:solidFill>
                <a:latin typeface="Montserrat Bold"/>
                <a:ea typeface="Montserrat Bold"/>
                <a:cs typeface="Montserrat Bold"/>
                <a:sym typeface="Montserrat Bold"/>
              </a:rPr>
              <a:t>D &amp; OBJECTIVE</a:t>
            </a:r>
          </a:p>
        </p:txBody>
      </p:sp>
      <p:sp>
        <p:nvSpPr>
          <p:cNvPr name="TextBox 15" id="15"/>
          <p:cNvSpPr txBox="true"/>
          <p:nvPr/>
        </p:nvSpPr>
        <p:spPr>
          <a:xfrm rot="0">
            <a:off x="701994" y="3266001"/>
            <a:ext cx="11127843" cy="1768475"/>
          </a:xfrm>
          <a:prstGeom prst="rect">
            <a:avLst/>
          </a:prstGeom>
        </p:spPr>
        <p:txBody>
          <a:bodyPr anchor="t" rtlCol="false" tIns="0" lIns="0" bIns="0" rIns="0">
            <a:spAutoFit/>
          </a:bodyPr>
          <a:lstStyle/>
          <a:p>
            <a:pPr algn="just">
              <a:lnSpc>
                <a:spcPts val="2799"/>
              </a:lnSpc>
              <a:spcBef>
                <a:spcPct val="0"/>
              </a:spcBef>
            </a:pPr>
            <a:r>
              <a:rPr lang="en-US" sz="1999" spc="465">
                <a:solidFill>
                  <a:srgbClr val="343734"/>
                </a:solidFill>
                <a:latin typeface="Poppins"/>
                <a:ea typeface="Poppins"/>
                <a:cs typeface="Poppins"/>
                <a:sym typeface="Poppins"/>
              </a:rPr>
              <a:t>Berbeda dari d</a:t>
            </a:r>
            <a:r>
              <a:rPr lang="en-US" sz="1999" spc="465">
                <a:solidFill>
                  <a:srgbClr val="343734"/>
                </a:solidFill>
                <a:latin typeface="Poppins"/>
                <a:ea typeface="Poppins"/>
                <a:cs typeface="Poppins"/>
                <a:sym typeface="Poppins"/>
              </a:rPr>
              <a:t>ashboard analitik agregat, dashboard ini dirancang sebagai profiling tool/data explorer. pengguna memilih satu karakter/profile (nama Pokémon) melalui parameter dropdown, dan dashboard menampilkan seluruh atribut &amp; statistik entitas tersebut secara instan dan visual.</a:t>
            </a:r>
          </a:p>
        </p:txBody>
      </p:sp>
      <p:sp>
        <p:nvSpPr>
          <p:cNvPr name="TextBox 16" id="16"/>
          <p:cNvSpPr txBox="true"/>
          <p:nvPr/>
        </p:nvSpPr>
        <p:spPr>
          <a:xfrm rot="0">
            <a:off x="1322708" y="5848972"/>
            <a:ext cx="9458673" cy="707129"/>
          </a:xfrm>
          <a:prstGeom prst="rect">
            <a:avLst/>
          </a:prstGeom>
        </p:spPr>
        <p:txBody>
          <a:bodyPr anchor="t" rtlCol="false" tIns="0" lIns="0" bIns="0" rIns="0">
            <a:spAutoFit/>
          </a:bodyPr>
          <a:lstStyle/>
          <a:p>
            <a:pPr algn="ctr">
              <a:lnSpc>
                <a:spcPts val="2809"/>
              </a:lnSpc>
              <a:spcBef>
                <a:spcPct val="0"/>
              </a:spcBef>
            </a:pPr>
            <a:r>
              <a:rPr lang="en-US" sz="2007">
                <a:solidFill>
                  <a:srgbClr val="EFF1E8"/>
                </a:solidFill>
                <a:latin typeface="Poppins"/>
                <a:ea typeface="Poppins"/>
                <a:cs typeface="Poppins"/>
                <a:sym typeface="Poppins"/>
              </a:rPr>
              <a:t>Meny</a:t>
            </a:r>
            <a:r>
              <a:rPr lang="en-US" sz="2007">
                <a:solidFill>
                  <a:srgbClr val="EFF1E8"/>
                </a:solidFill>
                <a:latin typeface="Poppins"/>
                <a:ea typeface="Poppins"/>
                <a:cs typeface="Poppins"/>
                <a:sym typeface="Poppins"/>
              </a:rPr>
              <a:t>ediakan cara cepat untuk melihat profil lengkap satu entitas dari dataset besar tanpa perlu query manual.</a:t>
            </a:r>
          </a:p>
        </p:txBody>
      </p:sp>
      <p:sp>
        <p:nvSpPr>
          <p:cNvPr name="TextBox 17" id="17"/>
          <p:cNvSpPr txBox="true"/>
          <p:nvPr/>
        </p:nvSpPr>
        <p:spPr>
          <a:xfrm rot="0">
            <a:off x="1073856" y="7071265"/>
            <a:ext cx="9956377" cy="356650"/>
          </a:xfrm>
          <a:prstGeom prst="rect">
            <a:avLst/>
          </a:prstGeom>
        </p:spPr>
        <p:txBody>
          <a:bodyPr anchor="t" rtlCol="false" tIns="0" lIns="0" bIns="0" rIns="0">
            <a:spAutoFit/>
          </a:bodyPr>
          <a:lstStyle/>
          <a:p>
            <a:pPr algn="ctr">
              <a:lnSpc>
                <a:spcPts val="2809"/>
              </a:lnSpc>
              <a:spcBef>
                <a:spcPct val="0"/>
              </a:spcBef>
            </a:pPr>
            <a:r>
              <a:rPr lang="en-US" sz="2007">
                <a:solidFill>
                  <a:srgbClr val="EFF1E8"/>
                </a:solidFill>
                <a:latin typeface="Poppins"/>
                <a:ea typeface="Poppins"/>
                <a:cs typeface="Poppins"/>
                <a:sym typeface="Poppins"/>
              </a:rPr>
              <a:t>M</a:t>
            </a:r>
            <a:r>
              <a:rPr lang="en-US" sz="2007">
                <a:solidFill>
                  <a:srgbClr val="EFF1E8"/>
                </a:solidFill>
                <a:latin typeface="Poppins"/>
                <a:ea typeface="Poppins"/>
                <a:cs typeface="Poppins"/>
                <a:sym typeface="Poppins"/>
              </a:rPr>
              <a:t>emvisualisasikan 6 statistik (Attack, HP, Defense, Sp. Atk, Sp. Def, Speed)</a:t>
            </a:r>
          </a:p>
        </p:txBody>
      </p:sp>
      <p:sp>
        <p:nvSpPr>
          <p:cNvPr name="TextBox 18" id="18"/>
          <p:cNvSpPr txBox="true"/>
          <p:nvPr/>
        </p:nvSpPr>
        <p:spPr>
          <a:xfrm rot="0">
            <a:off x="701994" y="8059661"/>
            <a:ext cx="10700101" cy="356650"/>
          </a:xfrm>
          <a:prstGeom prst="rect">
            <a:avLst/>
          </a:prstGeom>
        </p:spPr>
        <p:txBody>
          <a:bodyPr anchor="t" rtlCol="false" tIns="0" lIns="0" bIns="0" rIns="0">
            <a:spAutoFit/>
          </a:bodyPr>
          <a:lstStyle/>
          <a:p>
            <a:pPr algn="ctr">
              <a:lnSpc>
                <a:spcPts val="2809"/>
              </a:lnSpc>
              <a:spcBef>
                <a:spcPct val="0"/>
              </a:spcBef>
            </a:pPr>
            <a:r>
              <a:rPr lang="en-US" sz="2007">
                <a:solidFill>
                  <a:srgbClr val="EFF1E8"/>
                </a:solidFill>
                <a:latin typeface="Poppins"/>
                <a:ea typeface="Poppins"/>
                <a:cs typeface="Poppins"/>
                <a:sym typeface="Poppins"/>
              </a:rPr>
              <a:t>M</a:t>
            </a:r>
            <a:r>
              <a:rPr lang="en-US" sz="2007">
                <a:solidFill>
                  <a:srgbClr val="EFF1E8"/>
                </a:solidFill>
                <a:latin typeface="Poppins"/>
                <a:ea typeface="Poppins"/>
                <a:cs typeface="Poppins"/>
                <a:sym typeface="Poppins"/>
              </a:rPr>
              <a:t>enghitung Total Score sebagai indikator kekuatan keseluruhan</a:t>
            </a:r>
          </a:p>
        </p:txBody>
      </p:sp>
      <p:grpSp>
        <p:nvGrpSpPr>
          <p:cNvPr name="Group 19" id="19"/>
          <p:cNvGrpSpPr/>
          <p:nvPr/>
        </p:nvGrpSpPr>
        <p:grpSpPr>
          <a:xfrm rot="0">
            <a:off x="990528" y="8868962"/>
            <a:ext cx="10123034" cy="758758"/>
            <a:chOff x="0" y="0"/>
            <a:chExt cx="3188162" cy="238964"/>
          </a:xfrm>
        </p:grpSpPr>
        <p:sp>
          <p:nvSpPr>
            <p:cNvPr name="Freeform 20" id="20"/>
            <p:cNvSpPr/>
            <p:nvPr/>
          </p:nvSpPr>
          <p:spPr>
            <a:xfrm flipH="false" flipV="false" rot="0">
              <a:off x="0" y="0"/>
              <a:ext cx="3188162" cy="238964"/>
            </a:xfrm>
            <a:custGeom>
              <a:avLst/>
              <a:gdLst/>
              <a:ahLst/>
              <a:cxnLst/>
              <a:rect r="r" b="b" t="t" l="l"/>
              <a:pathLst>
                <a:path h="238964" w="3188162">
                  <a:moveTo>
                    <a:pt x="39004" y="0"/>
                  </a:moveTo>
                  <a:lnTo>
                    <a:pt x="3149158" y="0"/>
                  </a:lnTo>
                  <a:cubicBezTo>
                    <a:pt x="3170699" y="0"/>
                    <a:pt x="3188162" y="17463"/>
                    <a:pt x="3188162" y="39004"/>
                  </a:cubicBezTo>
                  <a:lnTo>
                    <a:pt x="3188162" y="199960"/>
                  </a:lnTo>
                  <a:cubicBezTo>
                    <a:pt x="3188162" y="221501"/>
                    <a:pt x="3170699" y="238964"/>
                    <a:pt x="3149158" y="238964"/>
                  </a:cubicBezTo>
                  <a:lnTo>
                    <a:pt x="39004" y="238964"/>
                  </a:lnTo>
                  <a:cubicBezTo>
                    <a:pt x="17463" y="238964"/>
                    <a:pt x="0" y="221501"/>
                    <a:pt x="0" y="199960"/>
                  </a:cubicBezTo>
                  <a:lnTo>
                    <a:pt x="0" y="39004"/>
                  </a:lnTo>
                  <a:cubicBezTo>
                    <a:pt x="0" y="17463"/>
                    <a:pt x="17463" y="0"/>
                    <a:pt x="39004" y="0"/>
                  </a:cubicBezTo>
                  <a:close/>
                </a:path>
              </a:pathLst>
            </a:custGeom>
            <a:solidFill>
              <a:srgbClr val="343734"/>
            </a:solidFill>
          </p:spPr>
        </p:sp>
        <p:sp>
          <p:nvSpPr>
            <p:cNvPr name="TextBox 21" id="21"/>
            <p:cNvSpPr txBox="true"/>
            <p:nvPr/>
          </p:nvSpPr>
          <p:spPr>
            <a:xfrm>
              <a:off x="0" y="-38100"/>
              <a:ext cx="3188162" cy="277064"/>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701994" y="9041451"/>
            <a:ext cx="10700101" cy="356650"/>
          </a:xfrm>
          <a:prstGeom prst="rect">
            <a:avLst/>
          </a:prstGeom>
        </p:spPr>
        <p:txBody>
          <a:bodyPr anchor="t" rtlCol="false" tIns="0" lIns="0" bIns="0" rIns="0">
            <a:spAutoFit/>
          </a:bodyPr>
          <a:lstStyle/>
          <a:p>
            <a:pPr algn="ctr">
              <a:lnSpc>
                <a:spcPts val="2809"/>
              </a:lnSpc>
              <a:spcBef>
                <a:spcPct val="0"/>
              </a:spcBef>
            </a:pPr>
            <a:r>
              <a:rPr lang="en-US" sz="2007">
                <a:solidFill>
                  <a:srgbClr val="EFF1E8"/>
                </a:solidFill>
                <a:latin typeface="Poppins"/>
                <a:ea typeface="Poppins"/>
                <a:cs typeface="Poppins"/>
                <a:sym typeface="Poppins"/>
              </a:rPr>
              <a:t>M</a:t>
            </a:r>
            <a:r>
              <a:rPr lang="en-US" sz="2007">
                <a:solidFill>
                  <a:srgbClr val="EFF1E8"/>
                </a:solidFill>
                <a:latin typeface="Poppins"/>
                <a:ea typeface="Poppins"/>
                <a:cs typeface="Poppins"/>
                <a:sym typeface="Poppins"/>
              </a:rPr>
              <a:t>enampilkan atribut kategorikal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8134259" y="2530848"/>
            <a:ext cx="9764398" cy="4866242"/>
            <a:chOff x="0" y="0"/>
            <a:chExt cx="1512761" cy="753908"/>
          </a:xfrm>
        </p:grpSpPr>
        <p:sp>
          <p:nvSpPr>
            <p:cNvPr name="Freeform 3" id="3"/>
            <p:cNvSpPr/>
            <p:nvPr/>
          </p:nvSpPr>
          <p:spPr>
            <a:xfrm flipH="false" flipV="false" rot="0">
              <a:off x="0" y="0"/>
              <a:ext cx="1512761" cy="753908"/>
            </a:xfrm>
            <a:custGeom>
              <a:avLst/>
              <a:gdLst/>
              <a:ahLst/>
              <a:cxnLst/>
              <a:rect r="r" b="b" t="t" l="l"/>
              <a:pathLst>
                <a:path h="753908" w="1512761">
                  <a:moveTo>
                    <a:pt x="0" y="0"/>
                  </a:moveTo>
                  <a:lnTo>
                    <a:pt x="1512761" y="0"/>
                  </a:lnTo>
                  <a:lnTo>
                    <a:pt x="1512761" y="753908"/>
                  </a:lnTo>
                  <a:lnTo>
                    <a:pt x="0" y="753908"/>
                  </a:lnTo>
                  <a:close/>
                </a:path>
              </a:pathLst>
            </a:custGeom>
            <a:blipFill>
              <a:blip r:embed="rId2"/>
              <a:stretch>
                <a:fillRect l="0" t="-665" r="0" b="-665"/>
              </a:stretch>
            </a:blipFill>
          </p:spPr>
        </p:sp>
      </p:grpSp>
      <p:sp>
        <p:nvSpPr>
          <p:cNvPr name="Freeform 4" id="4"/>
          <p:cNvSpPr/>
          <p:nvPr/>
        </p:nvSpPr>
        <p:spPr>
          <a:xfrm flipH="true" flipV="false" rot="0">
            <a:off x="-492078" y="6256376"/>
            <a:ext cx="3041556" cy="4472876"/>
          </a:xfrm>
          <a:custGeom>
            <a:avLst/>
            <a:gdLst/>
            <a:ahLst/>
            <a:cxnLst/>
            <a:rect r="r" b="b" t="t" l="l"/>
            <a:pathLst>
              <a:path h="4472876" w="3041556">
                <a:moveTo>
                  <a:pt x="3041556" y="0"/>
                </a:moveTo>
                <a:lnTo>
                  <a:pt x="0" y="0"/>
                </a:lnTo>
                <a:lnTo>
                  <a:pt x="0" y="4472876"/>
                </a:lnTo>
                <a:lnTo>
                  <a:pt x="3041556" y="4472876"/>
                </a:lnTo>
                <a:lnTo>
                  <a:pt x="3041556"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178867" y="2401653"/>
            <a:ext cx="502572" cy="697231"/>
            <a:chOff x="0" y="0"/>
            <a:chExt cx="585875" cy="812800"/>
          </a:xfrm>
        </p:grpSpPr>
        <p:sp>
          <p:nvSpPr>
            <p:cNvPr name="Freeform 6" id="6"/>
            <p:cNvSpPr/>
            <p:nvPr/>
          </p:nvSpPr>
          <p:spPr>
            <a:xfrm flipH="false" flipV="false" rot="0">
              <a:off x="0" y="0"/>
              <a:ext cx="585875" cy="812800"/>
            </a:xfrm>
            <a:custGeom>
              <a:avLst/>
              <a:gdLst/>
              <a:ahLst/>
              <a:cxnLst/>
              <a:rect r="r" b="b" t="t" l="l"/>
              <a:pathLst>
                <a:path h="812800" w="585875">
                  <a:moveTo>
                    <a:pt x="292938" y="0"/>
                  </a:moveTo>
                  <a:cubicBezTo>
                    <a:pt x="131153" y="0"/>
                    <a:pt x="0" y="181951"/>
                    <a:pt x="0" y="406400"/>
                  </a:cubicBezTo>
                  <a:cubicBezTo>
                    <a:pt x="0" y="630849"/>
                    <a:pt x="131153" y="812800"/>
                    <a:pt x="292938" y="812800"/>
                  </a:cubicBezTo>
                  <a:cubicBezTo>
                    <a:pt x="454723" y="812800"/>
                    <a:pt x="585875" y="630849"/>
                    <a:pt x="585875" y="406400"/>
                  </a:cubicBezTo>
                  <a:cubicBezTo>
                    <a:pt x="585875" y="181951"/>
                    <a:pt x="454723" y="0"/>
                    <a:pt x="292938" y="0"/>
                  </a:cubicBezTo>
                  <a:close/>
                </a:path>
              </a:pathLst>
            </a:custGeom>
            <a:solidFill>
              <a:srgbClr val="EFF1E8"/>
            </a:solidFill>
          </p:spPr>
        </p:sp>
        <p:sp>
          <p:nvSpPr>
            <p:cNvPr name="TextBox 7" id="7"/>
            <p:cNvSpPr txBox="true"/>
            <p:nvPr/>
          </p:nvSpPr>
          <p:spPr>
            <a:xfrm>
              <a:off x="54926" y="38100"/>
              <a:ext cx="476024"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34453" y="2401653"/>
            <a:ext cx="7088794" cy="697231"/>
            <a:chOff x="0" y="0"/>
            <a:chExt cx="2476000" cy="243532"/>
          </a:xfrm>
        </p:grpSpPr>
        <p:sp>
          <p:nvSpPr>
            <p:cNvPr name="Freeform 9" id="9"/>
            <p:cNvSpPr/>
            <p:nvPr/>
          </p:nvSpPr>
          <p:spPr>
            <a:xfrm flipH="false" flipV="false" rot="0">
              <a:off x="0" y="0"/>
              <a:ext cx="2476000" cy="243532"/>
            </a:xfrm>
            <a:custGeom>
              <a:avLst/>
              <a:gdLst/>
              <a:ahLst/>
              <a:cxnLst/>
              <a:rect r="r" b="b" t="t" l="l"/>
              <a:pathLst>
                <a:path h="243532" w="2476000">
                  <a:moveTo>
                    <a:pt x="55699" y="0"/>
                  </a:moveTo>
                  <a:lnTo>
                    <a:pt x="2420301" y="0"/>
                  </a:lnTo>
                  <a:cubicBezTo>
                    <a:pt x="2451063" y="0"/>
                    <a:pt x="2476000" y="24937"/>
                    <a:pt x="2476000" y="55699"/>
                  </a:cubicBezTo>
                  <a:lnTo>
                    <a:pt x="2476000" y="187833"/>
                  </a:lnTo>
                  <a:cubicBezTo>
                    <a:pt x="2476000" y="202605"/>
                    <a:pt x="2470132" y="216772"/>
                    <a:pt x="2459686" y="227218"/>
                  </a:cubicBezTo>
                  <a:cubicBezTo>
                    <a:pt x="2449241" y="237663"/>
                    <a:pt x="2435073" y="243532"/>
                    <a:pt x="2420301" y="243532"/>
                  </a:cubicBezTo>
                  <a:lnTo>
                    <a:pt x="55699" y="243532"/>
                  </a:lnTo>
                  <a:cubicBezTo>
                    <a:pt x="40927" y="243532"/>
                    <a:pt x="26759" y="237663"/>
                    <a:pt x="16314" y="227218"/>
                  </a:cubicBezTo>
                  <a:cubicBezTo>
                    <a:pt x="5868" y="216772"/>
                    <a:pt x="0" y="202605"/>
                    <a:pt x="0" y="187833"/>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10" id="10"/>
            <p:cNvSpPr txBox="true"/>
            <p:nvPr/>
          </p:nvSpPr>
          <p:spPr>
            <a:xfrm>
              <a:off x="0" y="-38100"/>
              <a:ext cx="2476000" cy="28163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178867" y="3433109"/>
            <a:ext cx="502572" cy="697231"/>
            <a:chOff x="0" y="0"/>
            <a:chExt cx="585875" cy="812800"/>
          </a:xfrm>
        </p:grpSpPr>
        <p:sp>
          <p:nvSpPr>
            <p:cNvPr name="Freeform 12" id="12"/>
            <p:cNvSpPr/>
            <p:nvPr/>
          </p:nvSpPr>
          <p:spPr>
            <a:xfrm flipH="false" flipV="false" rot="0">
              <a:off x="0" y="0"/>
              <a:ext cx="585875" cy="812800"/>
            </a:xfrm>
            <a:custGeom>
              <a:avLst/>
              <a:gdLst/>
              <a:ahLst/>
              <a:cxnLst/>
              <a:rect r="r" b="b" t="t" l="l"/>
              <a:pathLst>
                <a:path h="812800" w="585875">
                  <a:moveTo>
                    <a:pt x="292938" y="0"/>
                  </a:moveTo>
                  <a:cubicBezTo>
                    <a:pt x="131153" y="0"/>
                    <a:pt x="0" y="181951"/>
                    <a:pt x="0" y="406400"/>
                  </a:cubicBezTo>
                  <a:cubicBezTo>
                    <a:pt x="0" y="630849"/>
                    <a:pt x="131153" y="812800"/>
                    <a:pt x="292938" y="812800"/>
                  </a:cubicBezTo>
                  <a:cubicBezTo>
                    <a:pt x="454723" y="812800"/>
                    <a:pt x="585875" y="630849"/>
                    <a:pt x="585875" y="406400"/>
                  </a:cubicBezTo>
                  <a:cubicBezTo>
                    <a:pt x="585875" y="181951"/>
                    <a:pt x="454723" y="0"/>
                    <a:pt x="292938" y="0"/>
                  </a:cubicBezTo>
                  <a:close/>
                </a:path>
              </a:pathLst>
            </a:custGeom>
            <a:solidFill>
              <a:srgbClr val="EFF1E8"/>
            </a:solidFill>
          </p:spPr>
        </p:sp>
        <p:sp>
          <p:nvSpPr>
            <p:cNvPr name="TextBox 13" id="13"/>
            <p:cNvSpPr txBox="true"/>
            <p:nvPr/>
          </p:nvSpPr>
          <p:spPr>
            <a:xfrm>
              <a:off x="54926" y="38100"/>
              <a:ext cx="476024" cy="698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734453" y="3433109"/>
            <a:ext cx="7088794" cy="937553"/>
            <a:chOff x="0" y="0"/>
            <a:chExt cx="2476000" cy="327472"/>
          </a:xfrm>
        </p:grpSpPr>
        <p:sp>
          <p:nvSpPr>
            <p:cNvPr name="Freeform 15" id="15"/>
            <p:cNvSpPr/>
            <p:nvPr/>
          </p:nvSpPr>
          <p:spPr>
            <a:xfrm flipH="false" flipV="false" rot="0">
              <a:off x="0" y="0"/>
              <a:ext cx="2476000" cy="327472"/>
            </a:xfrm>
            <a:custGeom>
              <a:avLst/>
              <a:gdLst/>
              <a:ahLst/>
              <a:cxnLst/>
              <a:rect r="r" b="b" t="t" l="l"/>
              <a:pathLst>
                <a:path h="327472" w="2476000">
                  <a:moveTo>
                    <a:pt x="55699" y="0"/>
                  </a:moveTo>
                  <a:lnTo>
                    <a:pt x="2420301" y="0"/>
                  </a:lnTo>
                  <a:cubicBezTo>
                    <a:pt x="2451063" y="0"/>
                    <a:pt x="2476000" y="24937"/>
                    <a:pt x="2476000" y="55699"/>
                  </a:cubicBezTo>
                  <a:lnTo>
                    <a:pt x="2476000" y="271773"/>
                  </a:lnTo>
                  <a:cubicBezTo>
                    <a:pt x="2476000" y="286546"/>
                    <a:pt x="2470132" y="300713"/>
                    <a:pt x="2459686" y="311158"/>
                  </a:cubicBezTo>
                  <a:cubicBezTo>
                    <a:pt x="2449241" y="321604"/>
                    <a:pt x="2435073" y="327472"/>
                    <a:pt x="2420301" y="327472"/>
                  </a:cubicBezTo>
                  <a:lnTo>
                    <a:pt x="55699" y="327472"/>
                  </a:lnTo>
                  <a:cubicBezTo>
                    <a:pt x="24937" y="327472"/>
                    <a:pt x="0" y="302535"/>
                    <a:pt x="0" y="271773"/>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16" id="16"/>
            <p:cNvSpPr txBox="true"/>
            <p:nvPr/>
          </p:nvSpPr>
          <p:spPr>
            <a:xfrm>
              <a:off x="0" y="-38100"/>
              <a:ext cx="2476000" cy="365572"/>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178867" y="4704038"/>
            <a:ext cx="502572" cy="697231"/>
            <a:chOff x="0" y="0"/>
            <a:chExt cx="585875" cy="812800"/>
          </a:xfrm>
        </p:grpSpPr>
        <p:sp>
          <p:nvSpPr>
            <p:cNvPr name="Freeform 18" id="18"/>
            <p:cNvSpPr/>
            <p:nvPr/>
          </p:nvSpPr>
          <p:spPr>
            <a:xfrm flipH="false" flipV="false" rot="0">
              <a:off x="0" y="0"/>
              <a:ext cx="585875" cy="812800"/>
            </a:xfrm>
            <a:custGeom>
              <a:avLst/>
              <a:gdLst/>
              <a:ahLst/>
              <a:cxnLst/>
              <a:rect r="r" b="b" t="t" l="l"/>
              <a:pathLst>
                <a:path h="812800" w="585875">
                  <a:moveTo>
                    <a:pt x="292938" y="0"/>
                  </a:moveTo>
                  <a:cubicBezTo>
                    <a:pt x="131153" y="0"/>
                    <a:pt x="0" y="181951"/>
                    <a:pt x="0" y="406400"/>
                  </a:cubicBezTo>
                  <a:cubicBezTo>
                    <a:pt x="0" y="630849"/>
                    <a:pt x="131153" y="812800"/>
                    <a:pt x="292938" y="812800"/>
                  </a:cubicBezTo>
                  <a:cubicBezTo>
                    <a:pt x="454723" y="812800"/>
                    <a:pt x="585875" y="630849"/>
                    <a:pt x="585875" y="406400"/>
                  </a:cubicBezTo>
                  <a:cubicBezTo>
                    <a:pt x="585875" y="181951"/>
                    <a:pt x="454723" y="0"/>
                    <a:pt x="292938" y="0"/>
                  </a:cubicBezTo>
                  <a:close/>
                </a:path>
              </a:pathLst>
            </a:custGeom>
            <a:solidFill>
              <a:srgbClr val="EFF1E8"/>
            </a:solidFill>
          </p:spPr>
        </p:sp>
        <p:sp>
          <p:nvSpPr>
            <p:cNvPr name="TextBox 19" id="19"/>
            <p:cNvSpPr txBox="true"/>
            <p:nvPr/>
          </p:nvSpPr>
          <p:spPr>
            <a:xfrm>
              <a:off x="54926" y="38100"/>
              <a:ext cx="476024" cy="6985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734453" y="4704038"/>
            <a:ext cx="7088794" cy="697231"/>
            <a:chOff x="0" y="0"/>
            <a:chExt cx="2476000" cy="243532"/>
          </a:xfrm>
        </p:grpSpPr>
        <p:sp>
          <p:nvSpPr>
            <p:cNvPr name="Freeform 21" id="21"/>
            <p:cNvSpPr/>
            <p:nvPr/>
          </p:nvSpPr>
          <p:spPr>
            <a:xfrm flipH="false" flipV="false" rot="0">
              <a:off x="0" y="0"/>
              <a:ext cx="2476000" cy="243532"/>
            </a:xfrm>
            <a:custGeom>
              <a:avLst/>
              <a:gdLst/>
              <a:ahLst/>
              <a:cxnLst/>
              <a:rect r="r" b="b" t="t" l="l"/>
              <a:pathLst>
                <a:path h="243532" w="2476000">
                  <a:moveTo>
                    <a:pt x="55699" y="0"/>
                  </a:moveTo>
                  <a:lnTo>
                    <a:pt x="2420301" y="0"/>
                  </a:lnTo>
                  <a:cubicBezTo>
                    <a:pt x="2451063" y="0"/>
                    <a:pt x="2476000" y="24937"/>
                    <a:pt x="2476000" y="55699"/>
                  </a:cubicBezTo>
                  <a:lnTo>
                    <a:pt x="2476000" y="187833"/>
                  </a:lnTo>
                  <a:cubicBezTo>
                    <a:pt x="2476000" y="202605"/>
                    <a:pt x="2470132" y="216772"/>
                    <a:pt x="2459686" y="227218"/>
                  </a:cubicBezTo>
                  <a:cubicBezTo>
                    <a:pt x="2449241" y="237663"/>
                    <a:pt x="2435073" y="243532"/>
                    <a:pt x="2420301" y="243532"/>
                  </a:cubicBezTo>
                  <a:lnTo>
                    <a:pt x="55699" y="243532"/>
                  </a:lnTo>
                  <a:cubicBezTo>
                    <a:pt x="40927" y="243532"/>
                    <a:pt x="26759" y="237663"/>
                    <a:pt x="16314" y="227218"/>
                  </a:cubicBezTo>
                  <a:cubicBezTo>
                    <a:pt x="5868" y="216772"/>
                    <a:pt x="0" y="202605"/>
                    <a:pt x="0" y="187833"/>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22" id="22"/>
            <p:cNvSpPr txBox="true"/>
            <p:nvPr/>
          </p:nvSpPr>
          <p:spPr>
            <a:xfrm>
              <a:off x="0" y="-38100"/>
              <a:ext cx="2476000" cy="281632"/>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178867" y="5735494"/>
            <a:ext cx="502572" cy="697231"/>
            <a:chOff x="0" y="0"/>
            <a:chExt cx="585875" cy="812800"/>
          </a:xfrm>
        </p:grpSpPr>
        <p:sp>
          <p:nvSpPr>
            <p:cNvPr name="Freeform 24" id="24"/>
            <p:cNvSpPr/>
            <p:nvPr/>
          </p:nvSpPr>
          <p:spPr>
            <a:xfrm flipH="false" flipV="false" rot="0">
              <a:off x="0" y="0"/>
              <a:ext cx="585875" cy="812800"/>
            </a:xfrm>
            <a:custGeom>
              <a:avLst/>
              <a:gdLst/>
              <a:ahLst/>
              <a:cxnLst/>
              <a:rect r="r" b="b" t="t" l="l"/>
              <a:pathLst>
                <a:path h="812800" w="585875">
                  <a:moveTo>
                    <a:pt x="292938" y="0"/>
                  </a:moveTo>
                  <a:cubicBezTo>
                    <a:pt x="131153" y="0"/>
                    <a:pt x="0" y="181951"/>
                    <a:pt x="0" y="406400"/>
                  </a:cubicBezTo>
                  <a:cubicBezTo>
                    <a:pt x="0" y="630849"/>
                    <a:pt x="131153" y="812800"/>
                    <a:pt x="292938" y="812800"/>
                  </a:cubicBezTo>
                  <a:cubicBezTo>
                    <a:pt x="454723" y="812800"/>
                    <a:pt x="585875" y="630849"/>
                    <a:pt x="585875" y="406400"/>
                  </a:cubicBezTo>
                  <a:cubicBezTo>
                    <a:pt x="585875" y="181951"/>
                    <a:pt x="454723" y="0"/>
                    <a:pt x="292938" y="0"/>
                  </a:cubicBezTo>
                  <a:close/>
                </a:path>
              </a:pathLst>
            </a:custGeom>
            <a:solidFill>
              <a:srgbClr val="EFF1E8"/>
            </a:solidFill>
          </p:spPr>
        </p:sp>
        <p:sp>
          <p:nvSpPr>
            <p:cNvPr name="TextBox 25" id="25"/>
            <p:cNvSpPr txBox="true"/>
            <p:nvPr/>
          </p:nvSpPr>
          <p:spPr>
            <a:xfrm>
              <a:off x="54926" y="38100"/>
              <a:ext cx="476024" cy="69850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734453" y="5735494"/>
            <a:ext cx="7088794" cy="890120"/>
            <a:chOff x="0" y="0"/>
            <a:chExt cx="2476000" cy="310904"/>
          </a:xfrm>
        </p:grpSpPr>
        <p:sp>
          <p:nvSpPr>
            <p:cNvPr name="Freeform 27" id="27"/>
            <p:cNvSpPr/>
            <p:nvPr/>
          </p:nvSpPr>
          <p:spPr>
            <a:xfrm flipH="false" flipV="false" rot="0">
              <a:off x="0" y="0"/>
              <a:ext cx="2476000" cy="310904"/>
            </a:xfrm>
            <a:custGeom>
              <a:avLst/>
              <a:gdLst/>
              <a:ahLst/>
              <a:cxnLst/>
              <a:rect r="r" b="b" t="t" l="l"/>
              <a:pathLst>
                <a:path h="310904" w="2476000">
                  <a:moveTo>
                    <a:pt x="55699" y="0"/>
                  </a:moveTo>
                  <a:lnTo>
                    <a:pt x="2420301" y="0"/>
                  </a:lnTo>
                  <a:cubicBezTo>
                    <a:pt x="2451063" y="0"/>
                    <a:pt x="2476000" y="24937"/>
                    <a:pt x="2476000" y="55699"/>
                  </a:cubicBezTo>
                  <a:lnTo>
                    <a:pt x="2476000" y="255206"/>
                  </a:lnTo>
                  <a:cubicBezTo>
                    <a:pt x="2476000" y="269978"/>
                    <a:pt x="2470132" y="284145"/>
                    <a:pt x="2459686" y="294591"/>
                  </a:cubicBezTo>
                  <a:cubicBezTo>
                    <a:pt x="2449241" y="305036"/>
                    <a:pt x="2435073" y="310904"/>
                    <a:pt x="2420301" y="310904"/>
                  </a:cubicBezTo>
                  <a:lnTo>
                    <a:pt x="55699" y="310904"/>
                  </a:lnTo>
                  <a:cubicBezTo>
                    <a:pt x="40927" y="310904"/>
                    <a:pt x="26759" y="305036"/>
                    <a:pt x="16314" y="294591"/>
                  </a:cubicBezTo>
                  <a:cubicBezTo>
                    <a:pt x="5868" y="284145"/>
                    <a:pt x="0" y="269978"/>
                    <a:pt x="0" y="255206"/>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28" id="28"/>
            <p:cNvSpPr txBox="true"/>
            <p:nvPr/>
          </p:nvSpPr>
          <p:spPr>
            <a:xfrm>
              <a:off x="0" y="-38100"/>
              <a:ext cx="2476000" cy="349004"/>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1178867" y="6766951"/>
            <a:ext cx="502572" cy="697231"/>
            <a:chOff x="0" y="0"/>
            <a:chExt cx="585875" cy="812800"/>
          </a:xfrm>
        </p:grpSpPr>
        <p:sp>
          <p:nvSpPr>
            <p:cNvPr name="Freeform 30" id="30"/>
            <p:cNvSpPr/>
            <p:nvPr/>
          </p:nvSpPr>
          <p:spPr>
            <a:xfrm flipH="false" flipV="false" rot="0">
              <a:off x="0" y="0"/>
              <a:ext cx="585875" cy="812800"/>
            </a:xfrm>
            <a:custGeom>
              <a:avLst/>
              <a:gdLst/>
              <a:ahLst/>
              <a:cxnLst/>
              <a:rect r="r" b="b" t="t" l="l"/>
              <a:pathLst>
                <a:path h="812800" w="585875">
                  <a:moveTo>
                    <a:pt x="292938" y="0"/>
                  </a:moveTo>
                  <a:cubicBezTo>
                    <a:pt x="131153" y="0"/>
                    <a:pt x="0" y="181951"/>
                    <a:pt x="0" y="406400"/>
                  </a:cubicBezTo>
                  <a:cubicBezTo>
                    <a:pt x="0" y="630849"/>
                    <a:pt x="131153" y="812800"/>
                    <a:pt x="292938" y="812800"/>
                  </a:cubicBezTo>
                  <a:cubicBezTo>
                    <a:pt x="454723" y="812800"/>
                    <a:pt x="585875" y="630849"/>
                    <a:pt x="585875" y="406400"/>
                  </a:cubicBezTo>
                  <a:cubicBezTo>
                    <a:pt x="585875" y="181951"/>
                    <a:pt x="454723" y="0"/>
                    <a:pt x="292938" y="0"/>
                  </a:cubicBezTo>
                  <a:close/>
                </a:path>
              </a:pathLst>
            </a:custGeom>
            <a:solidFill>
              <a:srgbClr val="EFF1E8"/>
            </a:solidFill>
          </p:spPr>
        </p:sp>
        <p:sp>
          <p:nvSpPr>
            <p:cNvPr name="TextBox 31" id="31"/>
            <p:cNvSpPr txBox="true"/>
            <p:nvPr/>
          </p:nvSpPr>
          <p:spPr>
            <a:xfrm>
              <a:off x="54926" y="38100"/>
              <a:ext cx="476024" cy="698500"/>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0">
            <a:off x="734453" y="6862970"/>
            <a:ext cx="7088794" cy="697231"/>
            <a:chOff x="0" y="0"/>
            <a:chExt cx="2476000" cy="243532"/>
          </a:xfrm>
        </p:grpSpPr>
        <p:sp>
          <p:nvSpPr>
            <p:cNvPr name="Freeform 33" id="33"/>
            <p:cNvSpPr/>
            <p:nvPr/>
          </p:nvSpPr>
          <p:spPr>
            <a:xfrm flipH="false" flipV="false" rot="0">
              <a:off x="0" y="0"/>
              <a:ext cx="2476000" cy="243532"/>
            </a:xfrm>
            <a:custGeom>
              <a:avLst/>
              <a:gdLst/>
              <a:ahLst/>
              <a:cxnLst/>
              <a:rect r="r" b="b" t="t" l="l"/>
              <a:pathLst>
                <a:path h="243532" w="2476000">
                  <a:moveTo>
                    <a:pt x="55699" y="0"/>
                  </a:moveTo>
                  <a:lnTo>
                    <a:pt x="2420301" y="0"/>
                  </a:lnTo>
                  <a:cubicBezTo>
                    <a:pt x="2451063" y="0"/>
                    <a:pt x="2476000" y="24937"/>
                    <a:pt x="2476000" y="55699"/>
                  </a:cubicBezTo>
                  <a:lnTo>
                    <a:pt x="2476000" y="187833"/>
                  </a:lnTo>
                  <a:cubicBezTo>
                    <a:pt x="2476000" y="202605"/>
                    <a:pt x="2470132" y="216772"/>
                    <a:pt x="2459686" y="227218"/>
                  </a:cubicBezTo>
                  <a:cubicBezTo>
                    <a:pt x="2449241" y="237663"/>
                    <a:pt x="2435073" y="243532"/>
                    <a:pt x="2420301" y="243532"/>
                  </a:cubicBezTo>
                  <a:lnTo>
                    <a:pt x="55699" y="243532"/>
                  </a:lnTo>
                  <a:cubicBezTo>
                    <a:pt x="40927" y="243532"/>
                    <a:pt x="26759" y="237663"/>
                    <a:pt x="16314" y="227218"/>
                  </a:cubicBezTo>
                  <a:cubicBezTo>
                    <a:pt x="5868" y="216772"/>
                    <a:pt x="0" y="202605"/>
                    <a:pt x="0" y="187833"/>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34" id="34"/>
            <p:cNvSpPr txBox="true"/>
            <p:nvPr/>
          </p:nvSpPr>
          <p:spPr>
            <a:xfrm>
              <a:off x="0" y="-38100"/>
              <a:ext cx="2476000" cy="281632"/>
            </a:xfrm>
            <a:prstGeom prst="rect">
              <a:avLst/>
            </a:prstGeom>
          </p:spPr>
          <p:txBody>
            <a:bodyPr anchor="ctr" rtlCol="false" tIns="50800" lIns="50800" bIns="50800" rIns="50800"/>
            <a:lstStyle/>
            <a:p>
              <a:pPr algn="ctr">
                <a:lnSpc>
                  <a:spcPts val="2659"/>
                </a:lnSpc>
              </a:pPr>
            </a:p>
          </p:txBody>
        </p:sp>
      </p:grpSp>
      <p:sp>
        <p:nvSpPr>
          <p:cNvPr name="TextBox 35" id="35"/>
          <p:cNvSpPr txBox="true"/>
          <p:nvPr/>
        </p:nvSpPr>
        <p:spPr>
          <a:xfrm rot="0">
            <a:off x="1847045" y="2542281"/>
            <a:ext cx="5897892" cy="358775"/>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P</a:t>
            </a:r>
            <a:r>
              <a:rPr lang="en-US" sz="1999">
                <a:solidFill>
                  <a:srgbClr val="EFF1E8"/>
                </a:solidFill>
                <a:latin typeface="Poppins"/>
                <a:ea typeface="Poppins"/>
                <a:cs typeface="Poppins"/>
                <a:sym typeface="Poppins"/>
              </a:rPr>
              <a:t>arameter Selector: untuk memilih Pokémon</a:t>
            </a:r>
          </a:p>
        </p:txBody>
      </p:sp>
      <p:sp>
        <p:nvSpPr>
          <p:cNvPr name="TextBox 36" id="36"/>
          <p:cNvSpPr txBox="true"/>
          <p:nvPr/>
        </p:nvSpPr>
        <p:spPr>
          <a:xfrm rot="0">
            <a:off x="1114721" y="2452783"/>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1</a:t>
            </a:r>
          </a:p>
        </p:txBody>
      </p:sp>
      <p:sp>
        <p:nvSpPr>
          <p:cNvPr name="TextBox 37" id="37"/>
          <p:cNvSpPr txBox="true"/>
          <p:nvPr/>
        </p:nvSpPr>
        <p:spPr>
          <a:xfrm rot="0">
            <a:off x="1847045" y="3573738"/>
            <a:ext cx="5897892" cy="711200"/>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I</a:t>
            </a:r>
            <a:r>
              <a:rPr lang="en-US" sz="1999">
                <a:solidFill>
                  <a:srgbClr val="EFF1E8"/>
                </a:solidFill>
                <a:latin typeface="Poppins"/>
                <a:ea typeface="Poppins"/>
                <a:cs typeface="Poppins"/>
                <a:sym typeface="Poppins"/>
              </a:rPr>
              <a:t>nfo Card: Nama, Type 1, Type 2, Generation, Status Legendary, gambar karakter</a:t>
            </a:r>
          </a:p>
        </p:txBody>
      </p:sp>
      <p:sp>
        <p:nvSpPr>
          <p:cNvPr name="TextBox 38" id="38"/>
          <p:cNvSpPr txBox="true"/>
          <p:nvPr/>
        </p:nvSpPr>
        <p:spPr>
          <a:xfrm rot="0">
            <a:off x="1114721" y="3484240"/>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2</a:t>
            </a:r>
          </a:p>
        </p:txBody>
      </p:sp>
      <p:sp>
        <p:nvSpPr>
          <p:cNvPr name="TextBox 39" id="39"/>
          <p:cNvSpPr txBox="true"/>
          <p:nvPr/>
        </p:nvSpPr>
        <p:spPr>
          <a:xfrm rot="0">
            <a:off x="1847045" y="4844666"/>
            <a:ext cx="5897892" cy="358775"/>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St</a:t>
            </a:r>
            <a:r>
              <a:rPr lang="en-US" sz="1999">
                <a:solidFill>
                  <a:srgbClr val="EFF1E8"/>
                </a:solidFill>
                <a:latin typeface="Poppins"/>
                <a:ea typeface="Poppins"/>
                <a:cs typeface="Poppins"/>
                <a:sym typeface="Poppins"/>
              </a:rPr>
              <a:t>at Table: 6 atribut statistik dasar</a:t>
            </a:r>
          </a:p>
        </p:txBody>
      </p:sp>
      <p:sp>
        <p:nvSpPr>
          <p:cNvPr name="TextBox 40" id="40"/>
          <p:cNvSpPr txBox="true"/>
          <p:nvPr/>
        </p:nvSpPr>
        <p:spPr>
          <a:xfrm rot="0">
            <a:off x="1114721" y="4755168"/>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3</a:t>
            </a:r>
          </a:p>
        </p:txBody>
      </p:sp>
      <p:sp>
        <p:nvSpPr>
          <p:cNvPr name="TextBox 41" id="41"/>
          <p:cNvSpPr txBox="true"/>
          <p:nvPr/>
        </p:nvSpPr>
        <p:spPr>
          <a:xfrm rot="0">
            <a:off x="1745584" y="5796379"/>
            <a:ext cx="5897892" cy="711200"/>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Radar</a:t>
            </a:r>
            <a:r>
              <a:rPr lang="en-US" sz="1999">
                <a:solidFill>
                  <a:srgbClr val="EFF1E8"/>
                </a:solidFill>
                <a:latin typeface="Poppins"/>
                <a:ea typeface="Poppins"/>
                <a:cs typeface="Poppins"/>
                <a:sym typeface="Poppins"/>
              </a:rPr>
              <a:t> Chart:</a:t>
            </a:r>
            <a:r>
              <a:rPr lang="en-US" sz="1999">
                <a:solidFill>
                  <a:srgbClr val="EFF1E8"/>
                </a:solidFill>
                <a:latin typeface="Poppins"/>
                <a:ea typeface="Poppins"/>
                <a:cs typeface="Poppins"/>
                <a:sym typeface="Poppins"/>
              </a:rPr>
              <a:t> Visualisasi multi-dimensi dari 6 stat sekaligus</a:t>
            </a:r>
          </a:p>
        </p:txBody>
      </p:sp>
      <p:sp>
        <p:nvSpPr>
          <p:cNvPr name="TextBox 42" id="42"/>
          <p:cNvSpPr txBox="true"/>
          <p:nvPr/>
        </p:nvSpPr>
        <p:spPr>
          <a:xfrm rot="0">
            <a:off x="1028700" y="5883057"/>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4</a:t>
            </a:r>
          </a:p>
        </p:txBody>
      </p:sp>
      <p:sp>
        <p:nvSpPr>
          <p:cNvPr name="TextBox 43" id="43"/>
          <p:cNvSpPr txBox="true"/>
          <p:nvPr/>
        </p:nvSpPr>
        <p:spPr>
          <a:xfrm rot="0">
            <a:off x="1847045" y="7003598"/>
            <a:ext cx="5897892" cy="358775"/>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KPI Ca</a:t>
            </a:r>
            <a:r>
              <a:rPr lang="en-US" sz="1999">
                <a:solidFill>
                  <a:srgbClr val="EFF1E8"/>
                </a:solidFill>
                <a:latin typeface="Poppins"/>
                <a:ea typeface="Poppins"/>
                <a:cs typeface="Poppins"/>
                <a:sym typeface="Poppins"/>
              </a:rPr>
              <a:t>rd: Total Score</a:t>
            </a:r>
          </a:p>
        </p:txBody>
      </p:sp>
      <p:sp>
        <p:nvSpPr>
          <p:cNvPr name="TextBox 44" id="44"/>
          <p:cNvSpPr txBox="true"/>
          <p:nvPr/>
        </p:nvSpPr>
        <p:spPr>
          <a:xfrm rot="0">
            <a:off x="1114721" y="6914101"/>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5</a:t>
            </a:r>
          </a:p>
        </p:txBody>
      </p:sp>
      <p:sp>
        <p:nvSpPr>
          <p:cNvPr name="TextBox 45" id="45"/>
          <p:cNvSpPr txBox="true"/>
          <p:nvPr/>
        </p:nvSpPr>
        <p:spPr>
          <a:xfrm rot="0">
            <a:off x="1224722" y="358860"/>
            <a:ext cx="16034578" cy="1245235"/>
          </a:xfrm>
          <a:prstGeom prst="rect">
            <a:avLst/>
          </a:prstGeom>
        </p:spPr>
        <p:txBody>
          <a:bodyPr anchor="t" rtlCol="false" tIns="0" lIns="0" bIns="0" rIns="0">
            <a:spAutoFit/>
          </a:bodyPr>
          <a:lstStyle/>
          <a:p>
            <a:pPr algn="ctr">
              <a:lnSpc>
                <a:spcPts val="9679"/>
              </a:lnSpc>
            </a:pPr>
            <a:r>
              <a:rPr lang="en-US" b="true" sz="8799">
                <a:solidFill>
                  <a:srgbClr val="343734"/>
                </a:solidFill>
                <a:latin typeface="Montserrat Bold"/>
                <a:ea typeface="Montserrat Bold"/>
                <a:cs typeface="Montserrat Bold"/>
                <a:sym typeface="Montserrat Bold"/>
              </a:rPr>
              <a:t>DASHBOARD OVERVIEW</a:t>
            </a:r>
          </a:p>
        </p:txBody>
      </p:sp>
      <p:sp>
        <p:nvSpPr>
          <p:cNvPr name="TextBox 46" id="46"/>
          <p:cNvSpPr txBox="true"/>
          <p:nvPr/>
        </p:nvSpPr>
        <p:spPr>
          <a:xfrm rot="0">
            <a:off x="8134259" y="7547901"/>
            <a:ext cx="5897892" cy="358775"/>
          </a:xfrm>
          <a:prstGeom prst="rect">
            <a:avLst/>
          </a:prstGeom>
        </p:spPr>
        <p:txBody>
          <a:bodyPr anchor="t" rtlCol="false" tIns="0" lIns="0" bIns="0" rIns="0">
            <a:spAutoFit/>
          </a:bodyPr>
          <a:lstStyle/>
          <a:p>
            <a:pPr algn="l">
              <a:lnSpc>
                <a:spcPts val="2799"/>
              </a:lnSpc>
              <a:spcBef>
                <a:spcPct val="0"/>
              </a:spcBef>
            </a:pPr>
            <a:r>
              <a:rPr lang="en-US" sz="1999" u="sng">
                <a:solidFill>
                  <a:srgbClr val="5E17EB"/>
                </a:solidFill>
                <a:latin typeface="Poppins"/>
                <a:ea typeface="Poppins"/>
                <a:cs typeface="Poppins"/>
                <a:sym typeface="Poppins"/>
                <a:hlinkClick r:id="rId5" tooltip="https://public.tableau.com/views/Pokemon_17850407677920/Dashboard1?:language=en-US&amp;:sid=&amp;:redirect=auth&amp;:display_count=n&amp;:origin=viz_share_link"/>
              </a:rPr>
              <a:t>Link Tableau</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17059384" y="-675769"/>
            <a:ext cx="1773784" cy="11876099"/>
            <a:chOff x="0" y="0"/>
            <a:chExt cx="467170" cy="3127862"/>
          </a:xfrm>
        </p:grpSpPr>
        <p:sp>
          <p:nvSpPr>
            <p:cNvPr name="Freeform 3" id="3"/>
            <p:cNvSpPr/>
            <p:nvPr/>
          </p:nvSpPr>
          <p:spPr>
            <a:xfrm flipH="false" flipV="false" rot="0">
              <a:off x="0" y="0"/>
              <a:ext cx="467170" cy="3127862"/>
            </a:xfrm>
            <a:custGeom>
              <a:avLst/>
              <a:gdLst/>
              <a:ahLst/>
              <a:cxnLst/>
              <a:rect r="r" b="b" t="t" l="l"/>
              <a:pathLst>
                <a:path h="3127862" w="467170">
                  <a:moveTo>
                    <a:pt x="0" y="0"/>
                  </a:moveTo>
                  <a:lnTo>
                    <a:pt x="467170" y="0"/>
                  </a:lnTo>
                  <a:lnTo>
                    <a:pt x="467170" y="3127862"/>
                  </a:lnTo>
                  <a:lnTo>
                    <a:pt x="0" y="3127862"/>
                  </a:lnTo>
                  <a:close/>
                </a:path>
              </a:pathLst>
            </a:custGeom>
            <a:solidFill>
              <a:srgbClr val="343734"/>
            </a:solidFill>
          </p:spPr>
        </p:sp>
        <p:sp>
          <p:nvSpPr>
            <p:cNvPr name="TextBox 4" id="4"/>
            <p:cNvSpPr txBox="true"/>
            <p:nvPr/>
          </p:nvSpPr>
          <p:spPr>
            <a:xfrm>
              <a:off x="0" y="-57150"/>
              <a:ext cx="467170" cy="3185012"/>
            </a:xfrm>
            <a:prstGeom prst="rect">
              <a:avLst/>
            </a:prstGeom>
          </p:spPr>
          <p:txBody>
            <a:bodyPr anchor="ctr" rtlCol="false" tIns="50800" lIns="50800" bIns="50800" rIns="50800"/>
            <a:lstStyle/>
            <a:p>
              <a:pPr algn="ctr">
                <a:lnSpc>
                  <a:spcPts val="2799"/>
                </a:lnSpc>
              </a:pPr>
            </a:p>
          </p:txBody>
        </p:sp>
      </p:grpSp>
      <p:sp>
        <p:nvSpPr>
          <p:cNvPr name="TextBox 5" id="5"/>
          <p:cNvSpPr txBox="true"/>
          <p:nvPr/>
        </p:nvSpPr>
        <p:spPr>
          <a:xfrm rot="0">
            <a:off x="1259406" y="1123950"/>
            <a:ext cx="13854017" cy="1245235"/>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INSIGHT</a:t>
            </a:r>
          </a:p>
        </p:txBody>
      </p:sp>
      <p:grpSp>
        <p:nvGrpSpPr>
          <p:cNvPr name="Group 6" id="6"/>
          <p:cNvGrpSpPr/>
          <p:nvPr/>
        </p:nvGrpSpPr>
        <p:grpSpPr>
          <a:xfrm rot="0">
            <a:off x="1642565" y="3216192"/>
            <a:ext cx="6543850" cy="3709109"/>
            <a:chOff x="0" y="0"/>
            <a:chExt cx="1363369" cy="772769"/>
          </a:xfrm>
        </p:grpSpPr>
        <p:sp>
          <p:nvSpPr>
            <p:cNvPr name="Freeform 7" id="7"/>
            <p:cNvSpPr/>
            <p:nvPr/>
          </p:nvSpPr>
          <p:spPr>
            <a:xfrm flipH="false" flipV="false" rot="0">
              <a:off x="0" y="0"/>
              <a:ext cx="1363369" cy="772769"/>
            </a:xfrm>
            <a:custGeom>
              <a:avLst/>
              <a:gdLst/>
              <a:ahLst/>
              <a:cxnLst/>
              <a:rect r="r" b="b" t="t" l="l"/>
              <a:pathLst>
                <a:path h="772769" w="1363369">
                  <a:moveTo>
                    <a:pt x="18929" y="0"/>
                  </a:moveTo>
                  <a:lnTo>
                    <a:pt x="1344440" y="0"/>
                  </a:lnTo>
                  <a:cubicBezTo>
                    <a:pt x="1354894" y="0"/>
                    <a:pt x="1363369" y="8475"/>
                    <a:pt x="1363369" y="18929"/>
                  </a:cubicBezTo>
                  <a:lnTo>
                    <a:pt x="1363369" y="753840"/>
                  </a:lnTo>
                  <a:cubicBezTo>
                    <a:pt x="1363369" y="758860"/>
                    <a:pt x="1361375" y="763675"/>
                    <a:pt x="1357825" y="767225"/>
                  </a:cubicBezTo>
                  <a:cubicBezTo>
                    <a:pt x="1354275" y="770775"/>
                    <a:pt x="1349460" y="772769"/>
                    <a:pt x="1344440" y="772769"/>
                  </a:cubicBezTo>
                  <a:lnTo>
                    <a:pt x="18929" y="772769"/>
                  </a:lnTo>
                  <a:cubicBezTo>
                    <a:pt x="13909" y="772769"/>
                    <a:pt x="9094" y="770775"/>
                    <a:pt x="5544" y="767225"/>
                  </a:cubicBezTo>
                  <a:cubicBezTo>
                    <a:pt x="1994" y="763675"/>
                    <a:pt x="0" y="758860"/>
                    <a:pt x="0" y="753840"/>
                  </a:cubicBezTo>
                  <a:lnTo>
                    <a:pt x="0" y="18929"/>
                  </a:lnTo>
                  <a:cubicBezTo>
                    <a:pt x="0" y="13909"/>
                    <a:pt x="1994" y="9094"/>
                    <a:pt x="5544" y="5544"/>
                  </a:cubicBezTo>
                  <a:cubicBezTo>
                    <a:pt x="9094" y="1994"/>
                    <a:pt x="13909" y="0"/>
                    <a:pt x="18929" y="0"/>
                  </a:cubicBezTo>
                  <a:close/>
                </a:path>
              </a:pathLst>
            </a:custGeom>
            <a:solidFill>
              <a:srgbClr val="EFF1E8"/>
            </a:solidFill>
          </p:spPr>
        </p:sp>
        <p:sp>
          <p:nvSpPr>
            <p:cNvPr name="TextBox 8" id="8"/>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8629476" y="3216192"/>
            <a:ext cx="6543850" cy="3709109"/>
            <a:chOff x="0" y="0"/>
            <a:chExt cx="1363369" cy="772769"/>
          </a:xfrm>
        </p:grpSpPr>
        <p:sp>
          <p:nvSpPr>
            <p:cNvPr name="Freeform 10" id="10"/>
            <p:cNvSpPr/>
            <p:nvPr/>
          </p:nvSpPr>
          <p:spPr>
            <a:xfrm flipH="false" flipV="false" rot="0">
              <a:off x="0" y="0"/>
              <a:ext cx="1363369" cy="772769"/>
            </a:xfrm>
            <a:custGeom>
              <a:avLst/>
              <a:gdLst/>
              <a:ahLst/>
              <a:cxnLst/>
              <a:rect r="r" b="b" t="t" l="l"/>
              <a:pathLst>
                <a:path h="772769" w="1363369">
                  <a:moveTo>
                    <a:pt x="18929" y="0"/>
                  </a:moveTo>
                  <a:lnTo>
                    <a:pt x="1344440" y="0"/>
                  </a:lnTo>
                  <a:cubicBezTo>
                    <a:pt x="1354894" y="0"/>
                    <a:pt x="1363369" y="8475"/>
                    <a:pt x="1363369" y="18929"/>
                  </a:cubicBezTo>
                  <a:lnTo>
                    <a:pt x="1363369" y="753840"/>
                  </a:lnTo>
                  <a:cubicBezTo>
                    <a:pt x="1363369" y="758860"/>
                    <a:pt x="1361375" y="763675"/>
                    <a:pt x="1357825" y="767225"/>
                  </a:cubicBezTo>
                  <a:cubicBezTo>
                    <a:pt x="1354275" y="770775"/>
                    <a:pt x="1349460" y="772769"/>
                    <a:pt x="1344440" y="772769"/>
                  </a:cubicBezTo>
                  <a:lnTo>
                    <a:pt x="18929" y="772769"/>
                  </a:lnTo>
                  <a:cubicBezTo>
                    <a:pt x="13909" y="772769"/>
                    <a:pt x="9094" y="770775"/>
                    <a:pt x="5544" y="767225"/>
                  </a:cubicBezTo>
                  <a:cubicBezTo>
                    <a:pt x="1994" y="763675"/>
                    <a:pt x="0" y="758860"/>
                    <a:pt x="0" y="753840"/>
                  </a:cubicBezTo>
                  <a:lnTo>
                    <a:pt x="0" y="18929"/>
                  </a:lnTo>
                  <a:cubicBezTo>
                    <a:pt x="0" y="13909"/>
                    <a:pt x="1994" y="9094"/>
                    <a:pt x="5544" y="5544"/>
                  </a:cubicBezTo>
                  <a:cubicBezTo>
                    <a:pt x="9094" y="1994"/>
                    <a:pt x="13909" y="0"/>
                    <a:pt x="18929" y="0"/>
                  </a:cubicBezTo>
                  <a:close/>
                </a:path>
              </a:pathLst>
            </a:custGeom>
            <a:solidFill>
              <a:srgbClr val="EFF1E8"/>
            </a:solidFill>
          </p:spPr>
        </p:sp>
        <p:sp>
          <p:nvSpPr>
            <p:cNvPr name="TextBox 11" id="11"/>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96963" y="8593415"/>
            <a:ext cx="1145602" cy="1145602"/>
          </a:xfrm>
          <a:custGeom>
            <a:avLst/>
            <a:gdLst/>
            <a:ahLst/>
            <a:cxnLst/>
            <a:rect r="r" b="b" t="t" l="l"/>
            <a:pathLst>
              <a:path h="1145602" w="1145602">
                <a:moveTo>
                  <a:pt x="0" y="0"/>
                </a:moveTo>
                <a:lnTo>
                  <a:pt x="1145602" y="0"/>
                </a:lnTo>
                <a:lnTo>
                  <a:pt x="1145602" y="1145602"/>
                </a:lnTo>
                <a:lnTo>
                  <a:pt x="0" y="1145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2054291" y="4198345"/>
            <a:ext cx="5638052" cy="428920"/>
          </a:xfrm>
          <a:prstGeom prst="rect">
            <a:avLst/>
          </a:prstGeom>
        </p:spPr>
        <p:txBody>
          <a:bodyPr anchor="t" rtlCol="false" tIns="0" lIns="0" bIns="0" rIns="0">
            <a:spAutoFit/>
          </a:bodyPr>
          <a:lstStyle/>
          <a:p>
            <a:pPr algn="l">
              <a:lnSpc>
                <a:spcPts val="3539"/>
              </a:lnSpc>
              <a:spcBef>
                <a:spcPct val="0"/>
              </a:spcBef>
            </a:pPr>
            <a:r>
              <a:rPr lang="en-US" b="true" sz="2528">
                <a:solidFill>
                  <a:srgbClr val="343734"/>
                </a:solidFill>
                <a:latin typeface="Montserrat Bold"/>
                <a:ea typeface="Montserrat Bold"/>
                <a:cs typeface="Montserrat Bold"/>
                <a:sym typeface="Montserrat Bold"/>
              </a:rPr>
              <a:t>Analisis Profile</a:t>
            </a:r>
          </a:p>
        </p:txBody>
      </p:sp>
      <p:sp>
        <p:nvSpPr>
          <p:cNvPr name="TextBox 14" id="14"/>
          <p:cNvSpPr txBox="true"/>
          <p:nvPr/>
        </p:nvSpPr>
        <p:spPr>
          <a:xfrm rot="0">
            <a:off x="2053145" y="4623310"/>
            <a:ext cx="5336119" cy="2685059"/>
          </a:xfrm>
          <a:prstGeom prst="rect">
            <a:avLst/>
          </a:prstGeom>
        </p:spPr>
        <p:txBody>
          <a:bodyPr anchor="t" rtlCol="false" tIns="0" lIns="0" bIns="0" rIns="0">
            <a:spAutoFit/>
          </a:bodyPr>
          <a:lstStyle/>
          <a:p>
            <a:pPr algn="l">
              <a:lnSpc>
                <a:spcPts val="3539"/>
              </a:lnSpc>
              <a:spcBef>
                <a:spcPct val="0"/>
              </a:spcBef>
            </a:pPr>
            <a:r>
              <a:rPr lang="en-US" sz="2528">
                <a:solidFill>
                  <a:srgbClr val="343734"/>
                </a:solidFill>
                <a:latin typeface="Poppins"/>
                <a:ea typeface="Poppins"/>
                <a:cs typeface="Poppins"/>
                <a:sym typeface="Poppins"/>
              </a:rPr>
              <a:t>P</a:t>
            </a:r>
            <a:r>
              <a:rPr lang="en-US" sz="2528">
                <a:solidFill>
                  <a:srgbClr val="343734"/>
                </a:solidFill>
                <a:latin typeface="Poppins"/>
                <a:ea typeface="Poppins"/>
                <a:cs typeface="Poppins"/>
                <a:sym typeface="Poppins"/>
              </a:rPr>
              <a:t>rofil Pikachu menunjukkan karakter "glass cannon" ringan kontribusi Speed mendominasi (28,1%) dari total score, sementara HP menjadi kontributor terendah (10,9%)</a:t>
            </a:r>
          </a:p>
        </p:txBody>
      </p:sp>
      <p:sp>
        <p:nvSpPr>
          <p:cNvPr name="TextBox 15" id="15"/>
          <p:cNvSpPr txBox="true"/>
          <p:nvPr/>
        </p:nvSpPr>
        <p:spPr>
          <a:xfrm rot="0">
            <a:off x="2054291" y="3278188"/>
            <a:ext cx="1106387" cy="899582"/>
          </a:xfrm>
          <a:prstGeom prst="rect">
            <a:avLst/>
          </a:prstGeom>
        </p:spPr>
        <p:txBody>
          <a:bodyPr anchor="t" rtlCol="false" tIns="0" lIns="0" bIns="0" rIns="0">
            <a:spAutoFit/>
          </a:bodyPr>
          <a:lstStyle/>
          <a:p>
            <a:pPr algn="l">
              <a:lnSpc>
                <a:spcPts val="7433"/>
              </a:lnSpc>
              <a:spcBef>
                <a:spcPct val="0"/>
              </a:spcBef>
            </a:pPr>
            <a:r>
              <a:rPr lang="en-US" b="true" sz="5309">
                <a:solidFill>
                  <a:srgbClr val="343734"/>
                </a:solidFill>
                <a:latin typeface="Montserrat Bold"/>
                <a:ea typeface="Montserrat Bold"/>
                <a:cs typeface="Montserrat Bold"/>
                <a:sym typeface="Montserrat Bold"/>
              </a:rPr>
              <a:t>1</a:t>
            </a:r>
          </a:p>
        </p:txBody>
      </p:sp>
      <p:sp>
        <p:nvSpPr>
          <p:cNvPr name="TextBox 16" id="16"/>
          <p:cNvSpPr txBox="true"/>
          <p:nvPr/>
        </p:nvSpPr>
        <p:spPr>
          <a:xfrm rot="0">
            <a:off x="9041202" y="4198345"/>
            <a:ext cx="5638052" cy="428920"/>
          </a:xfrm>
          <a:prstGeom prst="rect">
            <a:avLst/>
          </a:prstGeom>
        </p:spPr>
        <p:txBody>
          <a:bodyPr anchor="t" rtlCol="false" tIns="0" lIns="0" bIns="0" rIns="0">
            <a:spAutoFit/>
          </a:bodyPr>
          <a:lstStyle/>
          <a:p>
            <a:pPr algn="l">
              <a:lnSpc>
                <a:spcPts val="3539"/>
              </a:lnSpc>
              <a:spcBef>
                <a:spcPct val="0"/>
              </a:spcBef>
            </a:pPr>
            <a:r>
              <a:rPr lang="en-US" b="true" sz="2528">
                <a:solidFill>
                  <a:srgbClr val="343734"/>
                </a:solidFill>
                <a:latin typeface="Montserrat Bold"/>
                <a:ea typeface="Montserrat Bold"/>
                <a:cs typeface="Montserrat Bold"/>
                <a:sym typeface="Montserrat Bold"/>
              </a:rPr>
              <a:t>Analisis</a:t>
            </a:r>
            <a:r>
              <a:rPr lang="en-US" b="true" sz="2528">
                <a:solidFill>
                  <a:srgbClr val="343734"/>
                </a:solidFill>
                <a:latin typeface="Montserrat Bold"/>
                <a:ea typeface="Montserrat Bold"/>
                <a:cs typeface="Montserrat Bold"/>
                <a:sym typeface="Montserrat Bold"/>
              </a:rPr>
              <a:t> Profile</a:t>
            </a:r>
          </a:p>
        </p:txBody>
      </p:sp>
      <p:sp>
        <p:nvSpPr>
          <p:cNvPr name="TextBox 17" id="17"/>
          <p:cNvSpPr txBox="true"/>
          <p:nvPr/>
        </p:nvSpPr>
        <p:spPr>
          <a:xfrm rot="0">
            <a:off x="9041202" y="4623310"/>
            <a:ext cx="5336119" cy="1794033"/>
          </a:xfrm>
          <a:prstGeom prst="rect">
            <a:avLst/>
          </a:prstGeom>
        </p:spPr>
        <p:txBody>
          <a:bodyPr anchor="t" rtlCol="false" tIns="0" lIns="0" bIns="0" rIns="0">
            <a:spAutoFit/>
          </a:bodyPr>
          <a:lstStyle/>
          <a:p>
            <a:pPr algn="l">
              <a:lnSpc>
                <a:spcPts val="3539"/>
              </a:lnSpc>
              <a:spcBef>
                <a:spcPct val="0"/>
              </a:spcBef>
            </a:pPr>
            <a:r>
              <a:rPr lang="en-US" sz="2528">
                <a:solidFill>
                  <a:srgbClr val="343734"/>
                </a:solidFill>
                <a:latin typeface="Poppins"/>
                <a:ea typeface="Poppins"/>
                <a:cs typeface="Poppins"/>
                <a:sym typeface="Poppins"/>
              </a:rPr>
              <a:t>Tot</a:t>
            </a:r>
            <a:r>
              <a:rPr lang="en-US" sz="2528">
                <a:solidFill>
                  <a:srgbClr val="343734"/>
                </a:solidFill>
                <a:latin typeface="Poppins"/>
                <a:ea typeface="Poppins"/>
                <a:cs typeface="Poppins"/>
                <a:sym typeface="Poppins"/>
              </a:rPr>
              <a:t>al Score</a:t>
            </a:r>
            <a:r>
              <a:rPr lang="en-US" sz="2528">
                <a:solidFill>
                  <a:srgbClr val="343734"/>
                </a:solidFill>
                <a:latin typeface="Poppins"/>
                <a:ea typeface="Poppins"/>
                <a:cs typeface="Poppins"/>
                <a:sym typeface="Poppins"/>
              </a:rPr>
              <a:t> 320 tergolong rendah dibanding rata-rata Pokémon non-legendary umumnya</a:t>
            </a:r>
          </a:p>
        </p:txBody>
      </p:sp>
      <p:sp>
        <p:nvSpPr>
          <p:cNvPr name="TextBox 18" id="18"/>
          <p:cNvSpPr txBox="true"/>
          <p:nvPr/>
        </p:nvSpPr>
        <p:spPr>
          <a:xfrm rot="0">
            <a:off x="9041202" y="3278188"/>
            <a:ext cx="1106387" cy="899582"/>
          </a:xfrm>
          <a:prstGeom prst="rect">
            <a:avLst/>
          </a:prstGeom>
        </p:spPr>
        <p:txBody>
          <a:bodyPr anchor="t" rtlCol="false" tIns="0" lIns="0" bIns="0" rIns="0">
            <a:spAutoFit/>
          </a:bodyPr>
          <a:lstStyle/>
          <a:p>
            <a:pPr algn="l">
              <a:lnSpc>
                <a:spcPts val="7433"/>
              </a:lnSpc>
              <a:spcBef>
                <a:spcPct val="0"/>
              </a:spcBef>
            </a:pPr>
            <a:r>
              <a:rPr lang="en-US" b="true" sz="5309">
                <a:solidFill>
                  <a:srgbClr val="343734"/>
                </a:solidFill>
                <a:latin typeface="Montserrat Bold"/>
                <a:ea typeface="Montserrat Bold"/>
                <a:cs typeface="Montserrat Bold"/>
                <a:sym typeface="Montserrat Bold"/>
              </a:rPr>
              <a:t>2</a:t>
            </a:r>
          </a:p>
        </p:txBody>
      </p:sp>
      <p:sp>
        <p:nvSpPr>
          <p:cNvPr name="Freeform 19" id="19"/>
          <p:cNvSpPr/>
          <p:nvPr/>
        </p:nvSpPr>
        <p:spPr>
          <a:xfrm flipH="true" flipV="false" rot="0">
            <a:off x="15561883" y="8602558"/>
            <a:ext cx="1145602" cy="1145602"/>
          </a:xfrm>
          <a:custGeom>
            <a:avLst/>
            <a:gdLst/>
            <a:ahLst/>
            <a:cxnLst/>
            <a:rect r="r" b="b" t="t" l="l"/>
            <a:pathLst>
              <a:path h="1145602" w="1145602">
                <a:moveTo>
                  <a:pt x="1145602" y="0"/>
                </a:moveTo>
                <a:lnTo>
                  <a:pt x="0" y="0"/>
                </a:lnTo>
                <a:lnTo>
                  <a:pt x="0" y="1145601"/>
                </a:lnTo>
                <a:lnTo>
                  <a:pt x="1145602" y="1145601"/>
                </a:lnTo>
                <a:lnTo>
                  <a:pt x="11456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sp>
        <p:nvSpPr>
          <p:cNvPr name="Freeform 2" id="2"/>
          <p:cNvSpPr/>
          <p:nvPr/>
        </p:nvSpPr>
        <p:spPr>
          <a:xfrm flipH="false" flipV="false" rot="0">
            <a:off x="-877592" y="84922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123950"/>
            <a:ext cx="7795185" cy="2473910"/>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F</a:t>
            </a:r>
            <a:r>
              <a:rPr lang="en-US" b="true" sz="8799">
                <a:solidFill>
                  <a:srgbClr val="343734"/>
                </a:solidFill>
                <a:latin typeface="Montserrat Bold"/>
                <a:ea typeface="Montserrat Bold"/>
                <a:cs typeface="Montserrat Bold"/>
                <a:sym typeface="Montserrat Bold"/>
              </a:rPr>
              <a:t>inal Conclusion</a:t>
            </a:r>
          </a:p>
        </p:txBody>
      </p:sp>
      <p:sp>
        <p:nvSpPr>
          <p:cNvPr name="TextBox 4" id="4"/>
          <p:cNvSpPr txBox="true"/>
          <p:nvPr/>
        </p:nvSpPr>
        <p:spPr>
          <a:xfrm rot="0">
            <a:off x="1028700" y="4230978"/>
            <a:ext cx="7140660" cy="3540125"/>
          </a:xfrm>
          <a:prstGeom prst="rect">
            <a:avLst/>
          </a:prstGeom>
        </p:spPr>
        <p:txBody>
          <a:bodyPr anchor="t" rtlCol="false" tIns="0" lIns="0" bIns="0" rIns="0">
            <a:spAutoFit/>
          </a:bodyPr>
          <a:lstStyle/>
          <a:p>
            <a:pPr algn="just">
              <a:lnSpc>
                <a:spcPts val="2800"/>
              </a:lnSpc>
              <a:spcBef>
                <a:spcPct val="0"/>
              </a:spcBef>
            </a:pPr>
            <a:r>
              <a:rPr lang="en-US" sz="2000">
                <a:solidFill>
                  <a:srgbClr val="343734"/>
                </a:solidFill>
                <a:latin typeface="Poppins"/>
                <a:ea typeface="Poppins"/>
                <a:cs typeface="Poppins"/>
                <a:sym typeface="Poppins"/>
              </a:rPr>
              <a:t>Da</a:t>
            </a:r>
            <a:r>
              <a:rPr lang="en-US" sz="2000">
                <a:solidFill>
                  <a:srgbClr val="343734"/>
                </a:solidFill>
                <a:latin typeface="Poppins"/>
                <a:ea typeface="Poppins"/>
                <a:cs typeface="Poppins"/>
                <a:sym typeface="Poppins"/>
              </a:rPr>
              <a:t>shboard ini mendemonstrasikan kemampuan merancang interactive data profiling tool menggunakan parameter control dan multivariate visualization skill yang berbeda dari dashboard analitik agregat biasa, namun sama pentingnya untuk kebutuhan eksplorasi data berbasis entitas individual.</a:t>
            </a:r>
          </a:p>
          <a:p>
            <a:pPr algn="just">
              <a:lnSpc>
                <a:spcPts val="2800"/>
              </a:lnSpc>
              <a:spcBef>
                <a:spcPct val="0"/>
              </a:spcBef>
            </a:pPr>
            <a:r>
              <a:rPr lang="en-US" sz="2000">
                <a:solidFill>
                  <a:srgbClr val="343734"/>
                </a:solidFill>
                <a:latin typeface="Poppins"/>
                <a:ea typeface="Poppins"/>
                <a:cs typeface="Poppins"/>
                <a:sym typeface="Poppins"/>
              </a:rPr>
              <a:t>Studi kasus Pikachu menunjukkan bagaimana dashboard ini bisa langsung mengungkap karakter/profil kekuatan suatu entitas secara visual dan cepat, tanpa membaca tabel angka mentah.</a:t>
            </a:r>
          </a:p>
        </p:txBody>
      </p:sp>
      <p:sp>
        <p:nvSpPr>
          <p:cNvPr name="Freeform 5" id="5"/>
          <p:cNvSpPr/>
          <p:nvPr/>
        </p:nvSpPr>
        <p:spPr>
          <a:xfrm flipH="false" flipV="false" rot="0">
            <a:off x="9508113" y="2109744"/>
            <a:ext cx="7019419" cy="5052772"/>
          </a:xfrm>
          <a:custGeom>
            <a:avLst/>
            <a:gdLst/>
            <a:ahLst/>
            <a:cxnLst/>
            <a:rect r="r" b="b" t="t" l="l"/>
            <a:pathLst>
              <a:path h="5052772" w="7019419">
                <a:moveTo>
                  <a:pt x="0" y="0"/>
                </a:moveTo>
                <a:lnTo>
                  <a:pt x="7019419" y="0"/>
                </a:lnTo>
                <a:lnTo>
                  <a:pt x="7019419" y="5052771"/>
                </a:lnTo>
                <a:lnTo>
                  <a:pt x="0" y="5052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grpSp>
        <p:nvGrpSpPr>
          <p:cNvPr name="Group 2" id="2"/>
          <p:cNvGrpSpPr/>
          <p:nvPr/>
        </p:nvGrpSpPr>
        <p:grpSpPr>
          <a:xfrm rot="0">
            <a:off x="13059161" y="-353316"/>
            <a:ext cx="5954157" cy="11239916"/>
            <a:chOff x="0" y="0"/>
            <a:chExt cx="1568173" cy="2960307"/>
          </a:xfrm>
        </p:grpSpPr>
        <p:sp>
          <p:nvSpPr>
            <p:cNvPr name="Freeform 3" id="3"/>
            <p:cNvSpPr/>
            <p:nvPr/>
          </p:nvSpPr>
          <p:spPr>
            <a:xfrm flipH="false" flipV="false" rot="0">
              <a:off x="0" y="0"/>
              <a:ext cx="1568173" cy="2960307"/>
            </a:xfrm>
            <a:custGeom>
              <a:avLst/>
              <a:gdLst/>
              <a:ahLst/>
              <a:cxnLst/>
              <a:rect r="r" b="b" t="t" l="l"/>
              <a:pathLst>
                <a:path h="2960307" w="1568173">
                  <a:moveTo>
                    <a:pt x="0" y="0"/>
                  </a:moveTo>
                  <a:lnTo>
                    <a:pt x="1568173" y="0"/>
                  </a:lnTo>
                  <a:lnTo>
                    <a:pt x="1568173" y="2960307"/>
                  </a:lnTo>
                  <a:lnTo>
                    <a:pt x="0" y="2960307"/>
                  </a:lnTo>
                  <a:close/>
                </a:path>
              </a:pathLst>
            </a:custGeom>
            <a:solidFill>
              <a:srgbClr val="EFF1E8"/>
            </a:solidFill>
          </p:spPr>
        </p:sp>
        <p:sp>
          <p:nvSpPr>
            <p:cNvPr name="TextBox 4" id="4"/>
            <p:cNvSpPr txBox="true"/>
            <p:nvPr/>
          </p:nvSpPr>
          <p:spPr>
            <a:xfrm>
              <a:off x="0" y="-57150"/>
              <a:ext cx="1568173" cy="3017457"/>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false" flipV="false" rot="0">
            <a:off x="9637891" y="2754659"/>
            <a:ext cx="7621409" cy="4901354"/>
          </a:xfrm>
          <a:custGeom>
            <a:avLst/>
            <a:gdLst/>
            <a:ahLst/>
            <a:cxnLst/>
            <a:rect r="r" b="b" t="t" l="l"/>
            <a:pathLst>
              <a:path h="4901354" w="7621409">
                <a:moveTo>
                  <a:pt x="0" y="0"/>
                </a:moveTo>
                <a:lnTo>
                  <a:pt x="7621409" y="0"/>
                </a:lnTo>
                <a:lnTo>
                  <a:pt x="7621409" y="4901354"/>
                </a:lnTo>
                <a:lnTo>
                  <a:pt x="0" y="49013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900911" y="2516722"/>
            <a:ext cx="10020426" cy="5388469"/>
          </a:xfrm>
          <a:prstGeom prst="rect">
            <a:avLst/>
          </a:prstGeom>
        </p:spPr>
        <p:txBody>
          <a:bodyPr anchor="t" rtlCol="false" tIns="0" lIns="0" bIns="0" rIns="0">
            <a:spAutoFit/>
          </a:bodyPr>
          <a:lstStyle/>
          <a:p>
            <a:pPr algn="l">
              <a:lnSpc>
                <a:spcPts val="20857"/>
              </a:lnSpc>
            </a:pPr>
            <a:r>
              <a:rPr lang="en-US" sz="19864" b="true">
                <a:solidFill>
                  <a:srgbClr val="EFF1E8"/>
                </a:solidFill>
                <a:latin typeface="Montserrat Bold"/>
                <a:ea typeface="Montserrat Bold"/>
                <a:cs typeface="Montserrat Bold"/>
                <a:sym typeface="Montserrat Bold"/>
              </a:rPr>
              <a:t>Th</a:t>
            </a:r>
            <a:r>
              <a:rPr lang="en-US" b="true" sz="19864">
                <a:solidFill>
                  <a:srgbClr val="EFF1E8"/>
                </a:solidFill>
                <a:latin typeface="Montserrat Bold"/>
                <a:ea typeface="Montserrat Bold"/>
                <a:cs typeface="Montserrat Bold"/>
                <a:sym typeface="Montserrat Bold"/>
              </a:rPr>
              <a:t>ank You</a:t>
            </a:r>
          </a:p>
        </p:txBody>
      </p:sp>
      <p:sp>
        <p:nvSpPr>
          <p:cNvPr name="Freeform 7" id="7"/>
          <p:cNvSpPr/>
          <p:nvPr/>
        </p:nvSpPr>
        <p:spPr>
          <a:xfrm flipH="false" flipV="false" rot="0">
            <a:off x="1028700" y="8622875"/>
            <a:ext cx="635425" cy="635425"/>
          </a:xfrm>
          <a:custGeom>
            <a:avLst/>
            <a:gdLst/>
            <a:ahLst/>
            <a:cxnLst/>
            <a:rect r="r" b="b" t="t" l="l"/>
            <a:pathLst>
              <a:path h="635425" w="635425">
                <a:moveTo>
                  <a:pt x="0" y="0"/>
                </a:moveTo>
                <a:lnTo>
                  <a:pt x="635425" y="0"/>
                </a:lnTo>
                <a:lnTo>
                  <a:pt x="635425" y="635425"/>
                </a:lnTo>
                <a:lnTo>
                  <a:pt x="0" y="6354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900911" y="7697204"/>
            <a:ext cx="6595674" cy="358825"/>
          </a:xfrm>
          <a:prstGeom prst="rect">
            <a:avLst/>
          </a:prstGeom>
        </p:spPr>
        <p:txBody>
          <a:bodyPr anchor="t" rtlCol="false" tIns="0" lIns="0" bIns="0" rIns="0">
            <a:spAutoFit/>
          </a:bodyPr>
          <a:lstStyle/>
          <a:p>
            <a:pPr algn="l">
              <a:lnSpc>
                <a:spcPts val="2799"/>
              </a:lnSpc>
              <a:spcBef>
                <a:spcPct val="0"/>
              </a:spcBef>
            </a:pPr>
            <a:r>
              <a:rPr lang="en-US" sz="1999" spc="345">
                <a:solidFill>
                  <a:srgbClr val="EFF1E8"/>
                </a:solidFill>
                <a:latin typeface="Poppins"/>
                <a:ea typeface="Poppins"/>
                <a:cs typeface="Poppins"/>
                <a:sym typeface="Poppins"/>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DAHUKhhB7z8</dc:identifier>
  <dcterms:modified xsi:type="dcterms:W3CDTF">2011-08-01T06:04:30Z</dcterms:modified>
  <cp:revision>1</cp:revision>
  <dc:title>Salinan dari Salinan dari Blue and Grey Modern Data Analyst Presentation</dc:title>
</cp:coreProperties>
</file>